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7" roundtripDataSignature="AMtx7mjG0U+2/1EDTn46YnApbpAP0Gdo5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customschemas.google.com/relationships/presentationmetadata" Target="metadata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# Cover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Observability(옵저버빌리티) 관측 가능성에 대해서 발표 시작하겠습니다.</a:t>
            </a:r>
            <a:endParaRPr/>
          </a:p>
        </p:txBody>
      </p:sp>
      <p:sp>
        <p:nvSpPr>
          <p:cNvPr id="10" name="Google Shape;10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" name="Google Shape;15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#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서비스의 구성 요소가 너무 많아졌고, 배포 주기는 빨라졌습니다.</a:t>
            </a:r>
            <a:br>
              <a:rPr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또한 예상치 못한 오류나 장애가 발생했지만 분산 시스템 구조로 인한 추적의 어려움 등,</a:t>
            </a:r>
            <a:br>
              <a:rPr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기존 모놀로식 형태에서 마이크로서비스, 컨테이너, 서버리스 형태로</a:t>
            </a:r>
            <a:br>
              <a:rPr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시스템이 변화하면서 문제를 한눈에 파악하기 어려운 시대가 되었습니다.</a:t>
            </a:r>
            <a:endParaRPr/>
          </a:p>
        </p:txBody>
      </p:sp>
      <p:sp>
        <p:nvSpPr>
          <p:cNvPr id="16" name="Google Shape;16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" name="Google Shape;21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# 2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옵저버빌리티는 관측 가능성, 즉 "모든 출력을 실시간으로 분석해 시스템의 외부 출력만으로도 내부 상태를 이해할 수 있는 능력" 입니다.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옵저버빌리티의 핵심 기능은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자동자의 계기판, 블랙박스, 텍배 추적 등으로 비유를 해볼 수 있습니다.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 3가지에 대한 설명은 뒤에서 좀 더 자세히 설명드리겠습니다.</a:t>
            </a:r>
            <a:endParaRPr/>
          </a:p>
        </p:txBody>
      </p:sp>
      <p:sp>
        <p:nvSpPr>
          <p:cNvPr id="22" name="Google Shape;22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" name="Google Shape;27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# 3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옵저버빌리티는 모니터링과 APM을 대체하는 것이 아니라, 이를 확장한 개념이라고 할 수 있습니다.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- </a:t>
            </a:r>
            <a:r>
              <a:rPr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기존 모니터링과 APM은 미리 설정해둔 목표치와 데이터를 활용해 "이미 알고 있는 것을 본다" 는 개념에 가깝고,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- </a:t>
            </a:r>
            <a:r>
              <a:rPr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옵저버빌리티는 실시간으로 변화하는 데이터를 수집하고 분석해 "아직 모르는 것까지 본다" 는 개념에 가깝습니다.</a:t>
            </a:r>
            <a:endParaRPr/>
          </a:p>
        </p:txBody>
      </p:sp>
      <p:sp>
        <p:nvSpPr>
          <p:cNvPr id="28" name="Google Shape;28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" name="Google Shape;33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옵저버빌리티의 핵심 3가지 키워드는 </a:t>
            </a:r>
            <a:r>
              <a:rPr b="1"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"로그, 매트릭스, 트레이스" 입니다. 앞서 말씀 드렸던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1. 로그는 애플리케이션과 시스템이 남기는 시간이 찍히는 이벤트 기록으로, 자동차의 블랙박스 같은 역할을 합니다.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2. 매트릭스는 일정 간격으로 측정되는 숫자 값으로 CPU 사용률, 요청 수, 응답 지연 등 성능을 한눈에 확인할 수 있는 자동차 계기판 역할을 합니다.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3. 트레이스는 하나의 요청이 여러 서비스를 어떻게 거쳐갔는지 경로를 파악하는 것으로, 택배 위치 추적과 같은 역할을 합니다. 추적이 어려운 분산 시스템 구조 디버깅의 핵심이라고 할 수 있습니다.</a:t>
            </a:r>
            <a:endParaRPr/>
          </a:p>
        </p:txBody>
      </p:sp>
      <p:sp>
        <p:nvSpPr>
          <p:cNvPr id="34" name="Google Shape;34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" name="Google Shape;39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"갑자기 결제 시스템이 느려진" 사례가 생겼을 때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1. 매트릭스는 응답 지연 시간이 급격하게 증가한 "뭔가 평소와 다르다" 는 상황을 인지한 후, 대시보드에 이상 감지 신호를 보여줍니다.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2. 그래서 어떤 부분에서 응답 지연이 발생했는지 트레이스를 분석해, "Payment 서비스 병목 현상" 이 원인이라는 것을 파악합니다.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3. Payment 로그에 "DB connection pool exhausted(익조스천, 데이터베이스 연결 고갈)" 메시지를 확인 후, 원인을 분석해 커넥션 풀 크기를 재조정하는 등의 조치를 통해 서비스를 복구합니다.</a:t>
            </a:r>
            <a:endParaRPr/>
          </a:p>
        </p:txBody>
      </p:sp>
      <p:sp>
        <p:nvSpPr>
          <p:cNvPr id="40" name="Google Shape;40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5" name="Google Shape;45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옵저버빌리티는 크게 3단계로 작동합니다.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1. 수집(인스트루먼테이션): 로그, 매트릭스, 트레이스 정보를 실시간으로 수집하고,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2. 모니터링: 대시보드와 알림으로 시스템 상태를 모니터링 합니다.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3. 분석: 수집한 데이터들을 분석해 원인을 찾아내는 과정을 거칩니다.</a:t>
            </a:r>
            <a:endParaRPr/>
          </a:p>
        </p:txBody>
      </p:sp>
      <p:sp>
        <p:nvSpPr>
          <p:cNvPr id="46" name="Google Shape;46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1" name="Google Shape;51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# 7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이처럼 옵저버빌리티는 현재 빠르게 변화하며 분산되어 있는 아키텍처와 클라우드 네이티브 시대에서, 앞서 다른 분들이 발표하셨던 쿠버네티스, CI/CD에 적용할 수 있는 필수적인 엔지니어링 이론이라고 할 수 있습니다.</a:t>
            </a:r>
            <a:endParaRPr/>
          </a:p>
        </p:txBody>
      </p:sp>
      <p:sp>
        <p:nvSpPr>
          <p:cNvPr id="52" name="Google Shape;52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7" name="Google Shape;57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# 8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옵저버빌리티를 DevOps와 SRE(사이트 신뢰성 엔지니어링) 에 적용하면, 평균 복구 시간을 단축하고, 잡음 비율을 개선할 수 있으며, 비즈니스 목표에 맞춰 서비스를 운영할 수 있습니다.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여기서 SLO(서비스 수준 목표)는 </a:t>
            </a:r>
            <a:r>
              <a:rPr b="1"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IT 및 비즈니스 환경에서 안정적이고 원활한 서비스를 위해 팀이 설정하는 내부 품질 기준으로,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(1) 현실적인 합격 기준 (완벽주의 버리기)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- 비유: "학교 시험에서 항상 100점을 맞으려면 잠도 자지 않고 공부해야 해서 몸이 망가집니다. 대신 ‘95점만 넘기면 합격’이라는 기준을 정해두면, 남은 시간에는 운동도 하고 취미 생활도 할 수 있죠."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Char char="-"/>
            </a:pPr>
            <a:r>
              <a:rPr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정의: </a:t>
            </a:r>
            <a:r>
              <a:rPr b="1"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SRE에서 SLO는 시스템이 100% 완벽할 수 없음을 인정하고, 사용자가 불편함을 느끼지 않을 정도의 현실적인 합격 점수(예: 99.9%)를 정해두는 것입니다.</a:t>
            </a:r>
            <a:endParaRPr/>
          </a:p>
          <a:p>
            <a:pPr indent="-952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r>
              <a:rPr b="1"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---</a:t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(2) '에러 버짓'이라는 용돈 (실패할 수 있는 권리)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- 비유: "엄마가 한 달에 10만 원의 용돈을 주며 ‘이 안에서는 사고 싶은 걸 마음대로 사도 좋다’고 하시는 것과 같습니다."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- 정의: </a:t>
            </a:r>
            <a:r>
              <a:rPr b="1"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SLO를 99%로 정하면, 뒤집어 말해 1%만큼은 고장 나도 괜찮다는 '에러 버짓(오류 예산)'이 생깁니다. 개발팀은 이 1%라는 용돈 범위 안에서 눈치 보지 않고 새로운 기능을 과감하게 배포하고 실험할 수 있습니다.</a:t>
            </a:r>
            <a:endParaRPr/>
          </a:p>
        </p:txBody>
      </p:sp>
      <p:sp>
        <p:nvSpPr>
          <p:cNvPr id="58" name="Google Shape;58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3" name="Google Shape;63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# 9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옵저버빌리티가 AI와 만나면 더 효과적으로 문제 상황을 이해하고 이를 대처할 수 있습니다.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이상 탐지를 더 빠르게 잡아내고, 임계치가 넘어가면 자동으로 복구를 실행하며,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LLM 기반으로 오류의 원인과 결과를 파악합니다. 또한, 인과 관계를 모델링해 "언제/어디서" 를 넘어, "왜 그 일이 벌어졌는지"를 추적할 수 있습니다.</a:t>
            </a:r>
            <a:endParaRPr/>
          </a:p>
        </p:txBody>
      </p:sp>
      <p:sp>
        <p:nvSpPr>
          <p:cNvPr id="64" name="Google Shape;64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9" name="Google Shape;69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# 10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결과적으로 옵저버빌리티를 실무에 적용하면 다운 타임을 줄이고, 오류의 원인과 이상을 빠르게 탐지해 서비스의 품질과 사용자 경험을 개선할 수 있습니다.</a:t>
            </a:r>
            <a:endParaRPr/>
          </a:p>
        </p:txBody>
      </p:sp>
      <p:sp>
        <p:nvSpPr>
          <p:cNvPr id="70" name="Google Shape;70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5" name="Google Shape;75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# 11/12</a:t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정리하자면 옵저버빌리티는 기존 모니터링, APM 방식에서 더 나아가 로그/매트릭스/트레이스를 통해 시스템 상태를 이해하고 DevOps, SRE, AI와 결합하면 경제적으로 더 큰 시너지를 낼 수 있는 엔지니어링 운영 방법론이라고 할 수 있습니다.</a:t>
            </a:r>
            <a:endParaRPr b="1"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6" name="Google Shape;76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:\Users\kkama\OneDrive\바탕 화면\observability_slides\outputs\manual-20260530-observability-regenerate\slides\01.jpg" id="12" name="Google Shape;12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:\Users\kkama\OneDrive\바탕 화면\observability_slides\outputs\manual-20260530-observability-regenerate\slides\02.jpg" id="18" name="Google Shape;1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:\Users\kkama\OneDrive\바탕 화면\observability_slides\outputs\manual-20260530-observability-regenerate\slides\03.jpg" id="24" name="Google Shape;24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:\Users\kkama\OneDrive\바탕 화면\observability_slides\outputs\manual-20260530-observability-regenerate\slides\04.jpg" id="30" name="Google Shape;30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:\Users\kkama\OneDrive\바탕 화면\observability_slides\outputs\manual-20260530-observability-regenerate\slides\05.jpg" id="36" name="Google Shape;3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:\Users\kkama\OneDrive\바탕 화면\observability_slides\outputs\manual-20260530-observability-regenerate\slides\06.jpg" id="42" name="Google Shape;4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:\Users\kkama\OneDrive\바탕 화면\observability_slides\outputs\manual-20260530-observability-regenerate\slides\07.jpg" id="48" name="Google Shape;48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:\Users\kkama\OneDrive\바탕 화면\observability_slides\outputs\manual-20260530-observability-regenerate\slides\08.jpg" id="54" name="Google Shape;54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:\Users\kkama\OneDrive\바탕 화면\observability_slides\outputs\manual-20260530-observability-regenerate\slides\09.jpg" id="60" name="Google Shape;60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:\Users\kkama\OneDrive\바탕 화면\observability_slides\outputs\manual-20260530-observability-regenerate\slides\10.jpg" id="66" name="Google Shape;66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:\Users\kkama\OneDrive\바탕 화면\observability_slides\outputs\manual-20260530-observability-regenerate\slides\11.jpg" id="72" name="Google Shape;72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:\Users\kkama\OneDrive\바탕 화면\observability_slides\outputs\manual-20260530-observability-regenerate\slides\12.jpg" id="78" name="Google Shape;78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2026-05-30T10:07:39Z</dcterms:created>
</cp:coreProperties>
</file>