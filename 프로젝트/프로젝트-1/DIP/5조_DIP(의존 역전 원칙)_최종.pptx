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Roboto Mono" panose="020B0604020202020204" charset="0"/>
      <p:regular r:id="rId11"/>
      <p:bold r:id="rId12"/>
      <p:italic r:id="rId13"/>
      <p:boldItalic r:id="rId14"/>
    </p:embeddedFont>
    <p:embeddedFont>
      <p:font typeface="나눔스퀘어" panose="020B0600000101010101" pitchFamily="50" charset="-127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Gv4SWD79PDrMNA1vzFSgdEiBX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9649"/>
    <a:srgbClr val="2EB859"/>
    <a:srgbClr val="72B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-370" y="2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68589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🎯 슬라이드 1 — 타이틀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안녕하세요. 저는 오늘 SOLID 원칙 중 마지막인 DIP, 의존 역전 원칙에 대해 발표하겠습니다.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🎯 슬라이드 2 — DIP란 무엇인가?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그럼 먼저 DIP가 무엇인지부터 알아보겠습니다.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한 문장으로 요약하면, "구체적인 구현이 아닌 추상화에 의존하라" 는 원칙입니다.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일반적으로 소프트웨어를 짜다 보면, 상위 모듈인 비즈니스 로직이 하위 모듈인 세부 구현체를 직접 가져다 쓰는 경우가 많습니다.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DIP는 상위 모듈과 하위 모듈이 서로를 직접 바라보는 것이 아니라, 둘 다 중간에 있는 인터페이스를 바라보도록 설계하는 겁니다.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이렇게 하면 크게 세 가지 이점이 생깁니다.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먼저 하위 구현이 바뀌어도 상위 모듈 코드는 수정할 필요가 없어집니다.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둘째, 인터페이스를 기반으로 모듈 간 통신하므로 객체간 결합이 느슨해집니다.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셋째, 실제 구현체 대신 Mock 객체를 주입할 수 있어 테스트가 쉬워집니다.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🎯 슬라이드 3 — DIP 특징 및 사용 목적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그렇다면 DIP를 왜 써야 할까요? 좀 전의 내용과 거의 중복되는데,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핵심 목적은 모듈 간의 결합도를 낮추는 것입니다.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코드에서 결합도가 높다는 것은, 한 부분을 바꿀 때 다른 부분도 연쇄적으로 바꿔야 하는 상황을 의미합니다.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이런 코드는 유지보수가 굉장히 어렵고, 테스트도 힘듭니다.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DIP를 적용하면 이 문제를 세 가지 방식으로 해결합니다.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첫째, 인터페이스 기반 계약입니다. 구현보다 규격을 먼저 정의합니다.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둘째, </a:t>
            </a:r>
            <a:r>
              <a:rPr lang="ko" b="1">
                <a:solidFill>
                  <a:schemeClr val="dk1"/>
                </a:solidFill>
              </a:rPr>
              <a:t>의존성 주입(DI)</a:t>
            </a:r>
            <a:r>
              <a:rPr lang="ko">
                <a:solidFill>
                  <a:schemeClr val="dk1"/>
                </a:solidFill>
              </a:rPr>
              <a:t>입니다. 객체를 직접 생성하지 않고 외부에서 받아 씁니다.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셋째, 구현 격리입니다. 세부 사항이 바뀌어도 상위 모듈에 영향을 주지 않습니다.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그리고 DIP는 SOLID의 OCP원칙과 관련이있는데요.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"새 기능 추가 시 기존 코드는 수정하지 않아야 하는 OCP는, DIP 없이는 실현하기 어렵습니다.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🎯 슬라이드 4 — DIP 위반 사례 (Bad Case)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이제 실제 코드를 보겠습니다. 먼저 DIP를 위반한 예시입니다.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화면을 보시면, Store 클래스가 결제를 처리하기 위해 SamsungPay 클래스를 직접 생성하고 있습니다.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생성자 안에서 new SamsungPay()를 호출하고,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checkout 메서드에서 samsungPay.processPayment()를 직접 호출합니다.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구조에는 몇 가지 문제가 있습니다.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먼저 확장성이 떨어집니다. 만약 카카오페이나 애플페이를 지원하려면 Store 클래스 내부 코드를 직접 수정해야 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둘째, 강한 결합도가 생깁니다. SamsungPay 내부 로직이 바뀌거나 장애가 생기면 Store 전체가 영향을 받습니다.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셋째, 테스트가 어렵습니다. 실제 삼성페이 모듈 없이 상점의 주문 로직만 따로 테스트하기 어렵습니다.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다.🎯 슬라이드 5 — DIP 적용 사례 (Good Case)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이번엔 DIP를 적용한 예시입니다.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핵심 변경점은 PaymentProcessor 인터페이스를 중간에 도입한 것입니다.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구조를 단계별로 살펴보겠습니다.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1단계 — PaymentProcessor 인터페이스에 processPayment 메서드의 규격을 정의합니다.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2단계 — SamsungPay와 KakaoPay가 각각 이 인터페이스를 구현합니다.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3단계 — Store 클래스는 SamsungPay도, KakaoPay도 직접 알지 못하고,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 오직 PaymentProcessor 인터페이스 타입만 알고 있으며, 생성자를 통해 외부에서 주입받습니다.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이 구조가 가져다주는 개선 효과는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먼저 애플페이를 새로 추가해도 Store 코드는 단 한 줄도 수정할 필요가 없습니다.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둘째, 삼성페이의 내부 로직이 변경되어도 Store에는 아무런 영향이 없습니다.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>
                <a:solidFill>
                  <a:schemeClr val="dk1"/>
                </a:solidFill>
              </a:rPr>
              <a:t>셋째, Mock 객체를 주입하면 Store의 주문 로직만 독립적으로 테스트할 수 있습니다.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b="1" dirty="0">
                <a:solidFill>
                  <a:schemeClr val="dk1"/>
                </a:solidFill>
              </a:rPr>
              <a:t>유연성:</a:t>
            </a:r>
            <a:r>
              <a:rPr lang="ko" dirty="0">
                <a:solidFill>
                  <a:schemeClr val="dk1"/>
                </a:solidFill>
              </a:rPr>
              <a:t> (삼성페이 예시를 기준으로) 어떤 결제 수단이든 코드 수정 없이 '플러그인' 처럼 자유롭게 기능을 교체하고 연결이 가능합니다.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b="1" dirty="0">
                <a:solidFill>
                  <a:schemeClr val="dk1"/>
                </a:solidFill>
              </a:rPr>
              <a:t>효율성:</a:t>
            </a:r>
            <a:r>
              <a:rPr lang="ko" dirty="0">
                <a:solidFill>
                  <a:schemeClr val="dk1"/>
                </a:solidFill>
              </a:rPr>
              <a:t> 인터페이스 규격만 맞추면 팀 간의 병렬 개발이 가능해져 개발 속도를 향상할 수 있습니다.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 b="1" dirty="0">
                <a:solidFill>
                  <a:schemeClr val="dk1"/>
                </a:solidFill>
              </a:rPr>
              <a:t>안정성:</a:t>
            </a:r>
            <a:r>
              <a:rPr lang="ko" dirty="0">
                <a:solidFill>
                  <a:schemeClr val="dk1"/>
                </a:solidFill>
              </a:rPr>
              <a:t> 실제 API가 없어도 완벽하게 독립적인 테스트가 가능합니다.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🎯 슬라이드 9 — 마무리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"/>
              <a:t>감사합니다.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F172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TITL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1156350" y="1637412"/>
            <a:ext cx="6831300" cy="14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4300" b="1" i="0" u="none" strike="noStrike" cap="none">
                <a:solidFill>
                  <a:srgbClr val="F1F5F9"/>
                </a:solidFill>
                <a:highlight>
                  <a:srgbClr val="0F172A"/>
                </a:highlight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DIP 의존 역전 원칙</a:t>
            </a:r>
            <a:endParaRPr sz="4300" b="1" i="0" u="none" strike="noStrike" cap="none">
              <a:solidFill>
                <a:srgbClr val="F1F5F9"/>
              </a:solidFill>
              <a:highlight>
                <a:srgbClr val="0F172A"/>
              </a:highlight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 sz="1400" b="0" i="0" u="none" strike="noStrike" cap="none">
                <a:solidFill>
                  <a:srgbClr val="94A3B8"/>
                </a:solidFill>
                <a:highlight>
                  <a:srgbClr val="0F172A"/>
                </a:highlight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추상화에 의존해 변화에 강한 설계를 만드는 법</a:t>
            </a:r>
            <a:endParaRPr sz="4800" b="1" i="0" u="none" strike="noStrike" cap="none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8108097" y="4883422"/>
            <a:ext cx="10359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b="0" i="0" u="none" strike="noStrike" cap="none">
                <a:solidFill>
                  <a:srgbClr val="94A3B8"/>
                </a:solidFill>
                <a:highlight>
                  <a:srgbClr val="0F172A"/>
                </a:highlight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2026.02.27</a:t>
            </a:r>
            <a:endParaRPr sz="1100" b="0" i="0" u="none" strike="noStrike" cap="none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079800" y="3567839"/>
            <a:ext cx="2984400" cy="98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" sz="1200" b="1" i="0" u="none" strike="noStrike" cap="none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306기_AI Java DevOps _5조</a:t>
            </a:r>
            <a:endParaRPr sz="1200" b="1" i="0" u="none" strike="noStrike" cap="none">
              <a:solidFill>
                <a:srgbClr val="D1D5DB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 b="0" i="0" u="none" strike="noStrike" cap="none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구도연, 고영진, 신민서</a:t>
            </a:r>
            <a:endParaRPr sz="1100" b="0" i="0" u="none" strike="noStrike" cap="none">
              <a:solidFill>
                <a:srgbClr val="D1D5DB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2"/>
          <p:cNvGrpSpPr/>
          <p:nvPr/>
        </p:nvGrpSpPr>
        <p:grpSpPr>
          <a:xfrm>
            <a:off x="374552" y="1490186"/>
            <a:ext cx="3000000" cy="3066051"/>
            <a:chOff x="266500" y="1494563"/>
            <a:chExt cx="3000000" cy="3066051"/>
          </a:xfrm>
        </p:grpSpPr>
        <p:sp>
          <p:nvSpPr>
            <p:cNvPr id="63" name="Google Shape;63;p2"/>
            <p:cNvSpPr/>
            <p:nvPr/>
          </p:nvSpPr>
          <p:spPr>
            <a:xfrm>
              <a:off x="266500" y="1494563"/>
              <a:ext cx="3000000" cy="2989800"/>
            </a:xfrm>
            <a:prstGeom prst="roundRect">
              <a:avLst>
                <a:gd name="adj" fmla="val 5652"/>
              </a:avLst>
            </a:prstGeom>
            <a:solidFill>
              <a:srgbClr val="1E293B"/>
            </a:solidFill>
            <a:ln w="9525" cap="flat" cmpd="sng">
              <a:solidFill>
                <a:srgbClr val="2F3B4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64" name="Google Shape;64;p2"/>
            <p:cNvSpPr txBox="1"/>
            <p:nvPr/>
          </p:nvSpPr>
          <p:spPr>
            <a:xfrm>
              <a:off x="266500" y="2732452"/>
              <a:ext cx="3000000" cy="18281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ko" sz="2000" b="1" i="0" u="none" strike="noStrike" cap="none" dirty="0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"추상화에 의존하라"</a:t>
              </a:r>
              <a:endParaRPr sz="2000" b="1" i="0" u="none" strike="noStrike" cap="none" dirty="0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marL="0" marR="0" lvl="0" indent="0" algn="ctr" rtl="0">
                <a:lnSpc>
                  <a:spcPct val="140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ko" sz="1050" b="0" i="0" u="none" strike="noStrike" cap="none" dirty="0">
                  <a:solidFill>
                    <a:srgbClr val="D1D5DB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고수준 모듈과 저수준 모듈 모두</a:t>
              </a:r>
              <a:br>
                <a:rPr lang="ko" sz="1050" b="0" i="0" u="none" strike="noStrike" cap="none" dirty="0">
                  <a:solidFill>
                    <a:srgbClr val="D1D5DB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</a:br>
              <a:r>
                <a:rPr lang="ko" sz="1050" b="0" i="0" u="none" strike="noStrike" cap="none" dirty="0">
                  <a:solidFill>
                    <a:srgbClr val="D1D5DB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구체적인 구현(Class)이 아닌</a:t>
              </a:r>
              <a:br>
                <a:rPr lang="ko" sz="1050" b="0" i="0" u="none" strike="noStrike" cap="none" dirty="0">
                  <a:solidFill>
                    <a:srgbClr val="D1D5DB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</a:br>
              <a:r>
                <a:rPr lang="ko" sz="1050" b="1" i="0" u="none" strike="noStrike" cap="none" dirty="0">
                  <a:solidFill>
                    <a:srgbClr val="60A5FA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‘추상화(Interface/Abstract Class)’</a:t>
              </a:r>
              <a:r>
                <a:rPr lang="ko" sz="1050" b="0" i="0" u="none" strike="noStrike" cap="none" dirty="0">
                  <a:solidFill>
                    <a:srgbClr val="D1D5DB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에</a:t>
              </a:r>
              <a:br>
                <a:rPr lang="ko" sz="1050" b="0" i="0" u="none" strike="noStrike" cap="none" dirty="0">
                  <a:solidFill>
                    <a:srgbClr val="D1D5DB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</a:br>
              <a:r>
                <a:rPr lang="ko" sz="1050" b="0" i="0" u="none" strike="noStrike" cap="none" dirty="0">
                  <a:solidFill>
                    <a:srgbClr val="D1D5DB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의존해야 한다는 원칙</a:t>
              </a:r>
              <a:endParaRPr sz="1100" b="0" i="0" u="none" strike="noStrike" cap="none" dirty="0">
                <a:solidFill>
                  <a:srgbClr val="CBD5E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3746246" y="1027463"/>
            <a:ext cx="5092954" cy="4017825"/>
            <a:chOff x="3797046" y="1027463"/>
            <a:chExt cx="5092954" cy="4017825"/>
          </a:xfrm>
        </p:grpSpPr>
        <p:sp>
          <p:nvSpPr>
            <p:cNvPr id="66" name="Google Shape;66;p2"/>
            <p:cNvSpPr/>
            <p:nvPr/>
          </p:nvSpPr>
          <p:spPr>
            <a:xfrm>
              <a:off x="3797046" y="4111088"/>
              <a:ext cx="5092954" cy="934200"/>
            </a:xfrm>
            <a:prstGeom prst="roundRect">
              <a:avLst>
                <a:gd name="adj" fmla="val 5652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797046" y="3083213"/>
              <a:ext cx="5092954" cy="934200"/>
            </a:xfrm>
            <a:prstGeom prst="roundRect">
              <a:avLst>
                <a:gd name="adj" fmla="val 5652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797046" y="2055338"/>
              <a:ext cx="5092954" cy="934200"/>
            </a:xfrm>
            <a:prstGeom prst="roundRect">
              <a:avLst>
                <a:gd name="adj" fmla="val 5652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797046" y="1027463"/>
              <a:ext cx="5092954" cy="934200"/>
            </a:xfrm>
            <a:prstGeom prst="roundRect">
              <a:avLst>
                <a:gd name="adj" fmla="val 5652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70" name="Google Shape;70;p2"/>
            <p:cNvSpPr txBox="1"/>
            <p:nvPr/>
          </p:nvSpPr>
          <p:spPr>
            <a:xfrm>
              <a:off x="4234613" y="1064075"/>
              <a:ext cx="4516621" cy="860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ko" sz="1300" b="1" i="0" u="none" strike="noStrike" cap="none">
                  <a:solidFill>
                    <a:srgbClr val="E2E8F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의존성 방향의 역전</a:t>
              </a:r>
              <a:endParaRPr sz="1300" b="1" i="0" u="none" strike="noStrike" cap="none">
                <a:solidFill>
                  <a:srgbClr val="E2E8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ko" sz="800" b="0" i="0" u="none" strike="noStrike" cap="none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고수준 모듈(비즈니스 로직)이 저수준 모듈(세부 구현)에 의존하는 전통적인 방식을 뒤집어, 둘 다 추상화에 의존하게 만듭니다.</a:t>
              </a:r>
              <a:endParaRPr sz="800" b="0" i="0" u="none" strike="noStrike" cap="none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71" name="Google Shape;71;p2"/>
            <p:cNvSpPr txBox="1"/>
            <p:nvPr/>
          </p:nvSpPr>
          <p:spPr>
            <a:xfrm>
              <a:off x="4234613" y="2091950"/>
              <a:ext cx="4471273" cy="860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300" b="1" i="0" u="none" strike="noStrike" cap="none">
                  <a:solidFill>
                    <a:srgbClr val="E2E8F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인터페이스 기반 통신</a:t>
              </a:r>
              <a:endParaRPr sz="1300" b="1" i="0" u="none" strike="noStrike" cap="none">
                <a:solidFill>
                  <a:srgbClr val="E2E8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ko" sz="800" b="0" i="0" u="none" strike="noStrike" cap="none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객체 간의 결합을 느슨하게 하기 위해 구체 클래스(Concrete Class) 대신 인터페이스(Interface) 타입을 사용하여 메시지를 주고받습니다.</a:t>
              </a:r>
              <a:endParaRPr sz="1300" b="1" i="0" u="none" strike="noStrike" cap="none">
                <a:solidFill>
                  <a:srgbClr val="E2E8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72" name="Google Shape;72;p2"/>
            <p:cNvSpPr txBox="1"/>
            <p:nvPr/>
          </p:nvSpPr>
          <p:spPr>
            <a:xfrm>
              <a:off x="4234613" y="3119824"/>
              <a:ext cx="4516623" cy="860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ko" sz="1300" b="1" i="0" u="none" strike="noStrike" cap="none">
                  <a:solidFill>
                    <a:srgbClr val="E2E8F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변경의 격리 &amp; 유연성</a:t>
              </a:r>
              <a:endParaRPr sz="1300" b="1" i="0" u="none" strike="noStrike" cap="none">
                <a:solidFill>
                  <a:srgbClr val="E2E8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ko" sz="800" b="0" i="0" u="none" strike="noStrike" cap="none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하위 구현체가 변경되어도 상위 모듈 코드를 수정할 필요가 없어집니다. 이는 OCP(개방-폐쇄 원칙)를 실현하는 기반이 됩니다.</a:t>
              </a:r>
              <a:endParaRPr sz="1000" b="1" i="0" u="none" strike="noStrike" cap="none">
                <a:solidFill>
                  <a:srgbClr val="E2E8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4234613" y="4240033"/>
              <a:ext cx="4516623" cy="676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ko" sz="1300" b="1" i="0" u="none" strike="noStrike" cap="none">
                  <a:solidFill>
                    <a:srgbClr val="E2E8F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테스트 용이성 확보</a:t>
              </a:r>
              <a:endParaRPr sz="1300" b="1" i="0" u="none" strike="noStrike" cap="none">
                <a:solidFill>
                  <a:srgbClr val="E2E8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ko" sz="800" b="0" i="0" u="none" strike="noStrike" cap="none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실제 구현체 대신 Mock 객체나 Stub을 주입하기 쉬워져, 단위 테스트 작성이 훨씬 수월해집니다.</a:t>
              </a:r>
              <a:endParaRPr sz="1000" b="1" i="0" u="none" strike="noStrike" cap="none">
                <a:solidFill>
                  <a:srgbClr val="E2E8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grpSp>
        <p:nvGrpSpPr>
          <p:cNvPr id="74" name="Google Shape;74;p2"/>
          <p:cNvGrpSpPr/>
          <p:nvPr/>
        </p:nvGrpSpPr>
        <p:grpSpPr>
          <a:xfrm>
            <a:off x="387252" y="201372"/>
            <a:ext cx="3669527" cy="1195458"/>
            <a:chOff x="387252" y="201372"/>
            <a:chExt cx="3669527" cy="1195458"/>
          </a:xfrm>
        </p:grpSpPr>
        <p:sp>
          <p:nvSpPr>
            <p:cNvPr id="75" name="Google Shape;75;p2"/>
            <p:cNvSpPr txBox="1"/>
            <p:nvPr/>
          </p:nvSpPr>
          <p:spPr>
            <a:xfrm>
              <a:off x="467879" y="201372"/>
              <a:ext cx="3588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ko" sz="2200" b="1" i="0" u="none" strike="noStrike" cap="none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DIP란 무엇인가?</a:t>
              </a:r>
              <a:endParaRPr sz="2200" b="1" i="0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87252" y="227251"/>
              <a:ext cx="80700" cy="75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467947" y="512516"/>
              <a:ext cx="3481500" cy="884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800"/>
                </a:spcBef>
                <a:spcAft>
                  <a:spcPts val="30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ko" sz="1200" b="0" i="0" u="none" strike="noStrike" cap="none" dirty="0">
                  <a:solidFill>
                    <a:srgbClr val="94A3B8"/>
                  </a:solidFill>
                  <a:highlight>
                    <a:srgbClr val="0F172A"/>
                  </a:highlight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Dependency Inversion Principle (의존 역전 원칙)</a:t>
              </a:r>
              <a:endParaRPr sz="12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78" name="Google Shape;78;p2" title="abstract-sha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313" y="1727864"/>
            <a:ext cx="934476" cy="93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2" title="interf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858928" y="2349875"/>
            <a:ext cx="312475" cy="312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 title="flexibili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8931" y="3374950"/>
            <a:ext cx="312475" cy="312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" title="testi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8925" y="4400000"/>
            <a:ext cx="312475" cy="31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2" title="exchang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8925" y="1324800"/>
            <a:ext cx="312475" cy="31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6288513" y="1371525"/>
            <a:ext cx="2492400" cy="3489000"/>
          </a:xfrm>
          <a:prstGeom prst="roundRect">
            <a:avLst>
              <a:gd name="adj" fmla="val 5652"/>
            </a:avLst>
          </a:prstGeom>
          <a:solidFill>
            <a:srgbClr val="1E293B"/>
          </a:solidFill>
          <a:ln w="12350" cap="flat" cmpd="sng">
            <a:solidFill>
              <a:srgbClr val="818CF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18550" tIns="118550" rIns="118550" bIns="11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5"/>
              <a:buFont typeface="Arial"/>
              <a:buNone/>
            </a:pPr>
            <a:endParaRPr sz="1815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88" name="Google Shape;88;p3"/>
          <p:cNvSpPr txBox="1"/>
          <p:nvPr/>
        </p:nvSpPr>
        <p:spPr>
          <a:xfrm>
            <a:off x="467879" y="201372"/>
            <a:ext cx="358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ko" sz="2200" b="1" i="0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DIP 특징 및 사용 목적</a:t>
            </a:r>
            <a:endParaRPr sz="2200" b="1" i="0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481125" y="512516"/>
            <a:ext cx="6766800" cy="88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3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" sz="1200" b="0" i="0" u="none" strike="noStrike" cap="none">
                <a:solidFill>
                  <a:srgbClr val="94A3B8"/>
                </a:solidFill>
                <a:highlight>
                  <a:srgbClr val="0F172A"/>
                </a:highlight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모듈 간의 결합도를 낮추고 시스템의 변경을 용이하게 만드는 설계 전략</a:t>
            </a:r>
            <a:endParaRPr sz="1100" b="0" i="0" u="none" strike="noStrike" cap="none">
              <a:solidFill>
                <a:srgbClr val="FFFFFF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87252" y="227251"/>
            <a:ext cx="80700" cy="75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95025" y="1371525"/>
            <a:ext cx="2492400" cy="3489000"/>
          </a:xfrm>
          <a:prstGeom prst="roundRect">
            <a:avLst>
              <a:gd name="adj" fmla="val 5652"/>
            </a:avLst>
          </a:prstGeom>
          <a:solidFill>
            <a:srgbClr val="1E293B"/>
          </a:solidFill>
          <a:ln w="12350" cap="flat" cmpd="sng">
            <a:solidFill>
              <a:srgbClr val="818CF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18550" tIns="118550" rIns="118550" bIns="11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5"/>
              <a:buFont typeface="Arial"/>
              <a:buNone/>
            </a:pPr>
            <a:endParaRPr sz="1815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341763" y="1371525"/>
            <a:ext cx="2492400" cy="3489000"/>
          </a:xfrm>
          <a:prstGeom prst="roundRect">
            <a:avLst>
              <a:gd name="adj" fmla="val 5652"/>
            </a:avLst>
          </a:prstGeom>
          <a:solidFill>
            <a:srgbClr val="1E293B"/>
          </a:solidFill>
          <a:ln w="12350" cap="flat" cmpd="sng">
            <a:solidFill>
              <a:srgbClr val="818CF8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18550" tIns="118550" rIns="118550" bIns="11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5"/>
              <a:buFont typeface="Arial"/>
              <a:buNone/>
            </a:pPr>
            <a:endParaRPr sz="1815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638025" y="2475450"/>
            <a:ext cx="20064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550" tIns="118550" rIns="118550" bIns="11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 b="1" i="0" u="none" strike="noStrike" cap="none">
                <a:solidFill>
                  <a:srgbClr val="DBEAF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목적 (Purpose)</a:t>
            </a:r>
            <a:endParaRPr sz="1685" b="1" i="0" u="none" strike="noStrike" cap="none">
              <a:solidFill>
                <a:srgbClr val="E2E8F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449175" y="3103150"/>
            <a:ext cx="23202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모듈 간의</a:t>
            </a:r>
            <a:b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1100" b="1" i="0" u="none" strike="noStrike" cap="none" dirty="0">
                <a:solidFill>
                  <a:srgbClr val="818CF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결합도(Coupling)를 낮추어</a:t>
            </a:r>
            <a: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/>
            </a:r>
            <a:b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변경에 유연하고</a:t>
            </a:r>
            <a:b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테스트가 쉬운 시스템 구축</a:t>
            </a:r>
            <a:endParaRPr sz="1400" b="0" i="0" u="none" strike="noStrike" cap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3087963" y="3254650"/>
            <a:ext cx="300000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Arial"/>
              <a:buNone/>
            </a:pPr>
            <a:r>
              <a:rPr lang="ko" sz="1100" b="1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약속(Contract</a:t>
            </a:r>
            <a: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) 기반 설계</a:t>
            </a:r>
            <a:b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1100" b="1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주입(Injection)</a:t>
            </a:r>
            <a: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을 통한 생성 위임</a:t>
            </a:r>
            <a:endParaRPr sz="1100" b="0" i="0" u="none" strike="noStrike" cap="none" dirty="0">
              <a:solidFill>
                <a:srgbClr val="D1D5DB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Arial"/>
              <a:buNone/>
            </a:pPr>
            <a:r>
              <a:rPr lang="ko" sz="1100" b="1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격리(Isolation)</a:t>
            </a:r>
            <a: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를 통한 변화 차단</a:t>
            </a:r>
            <a:endParaRPr sz="1100" b="0" i="0" u="none" strike="noStrike" cap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6034725" y="3083550"/>
            <a:ext cx="3000000" cy="76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 b="1" i="0" u="none" strike="noStrike" cap="none" dirty="0">
                <a:solidFill>
                  <a:srgbClr val="818CF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OCP(개방-폐쇄 원칙)</a:t>
            </a:r>
            <a: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와</a:t>
            </a:r>
            <a:b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1100" b="0" i="0" u="none" strike="noStrike" cap="none" dirty="0">
                <a:solidFill>
                  <a:srgbClr val="D1D5D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상호 보완적 관계</a:t>
            </a:r>
            <a:endParaRPr sz="900" b="1" i="0" u="none" strike="noStrike" cap="none" dirty="0">
              <a:solidFill>
                <a:srgbClr val="E2E8F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3427863" y="2571750"/>
            <a:ext cx="2320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ko" sz="1500" b="1" i="0" u="none" strike="noStrike" cap="none">
                <a:solidFill>
                  <a:srgbClr val="DBEAF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핵심 (Key Elements)</a:t>
            </a:r>
            <a:endParaRPr sz="1500" b="1" i="0" u="none" strike="noStrike" cap="none">
              <a:solidFill>
                <a:srgbClr val="DBEAFE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6288525" y="2571750"/>
            <a:ext cx="2492400" cy="501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ko" sz="1500" b="1" i="0" u="none" strike="noStrike" cap="none">
                <a:solidFill>
                  <a:srgbClr val="DBEAF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연관성 (Relation)</a:t>
            </a:r>
            <a:endParaRPr sz="900" b="1" i="0" u="none" strike="noStrike" cap="none">
              <a:solidFill>
                <a:srgbClr val="E2E8F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6034725" y="3787950"/>
            <a:ext cx="3000000" cy="81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0" i="0" u="none" strike="noStrike" cap="none">
                <a:solidFill>
                  <a:srgbClr val="9CA3A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"새로운 기능을 추가할 때(Open),</a:t>
            </a:r>
            <a:br>
              <a:rPr lang="ko" sz="800" b="0" i="0" u="none" strike="noStrike" cap="none">
                <a:solidFill>
                  <a:srgbClr val="9CA3A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800" b="0" i="0" u="none" strike="noStrike" cap="none">
                <a:solidFill>
                  <a:srgbClr val="9CA3A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상위 모듈의 코드는</a:t>
            </a:r>
            <a:br>
              <a:rPr lang="ko" sz="800" b="0" i="0" u="none" strike="noStrike" cap="none">
                <a:solidFill>
                  <a:srgbClr val="9CA3A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800" b="0" i="0" u="none" strike="noStrike" cap="none">
                <a:solidFill>
                  <a:srgbClr val="9CA3A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수정할 필요가 없어야 한다(Closed)."</a:t>
            </a:r>
            <a:endParaRPr sz="13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pic>
        <p:nvPicPr>
          <p:cNvPr id="100" name="Google Shape;100;p3" title="targ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200" y="1753375"/>
            <a:ext cx="722062" cy="722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shap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6944" y="1753387"/>
            <a:ext cx="722062" cy="722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 title="public-rel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3688" y="1753381"/>
            <a:ext cx="722062" cy="722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4834886" y="3168022"/>
            <a:ext cx="4137000" cy="1840500"/>
          </a:xfrm>
          <a:prstGeom prst="roundRect">
            <a:avLst>
              <a:gd name="adj" fmla="val 5652"/>
            </a:avLst>
          </a:prstGeom>
          <a:solidFill>
            <a:srgbClr val="251C2D"/>
          </a:solidFill>
          <a:ln w="95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844004" y="1172950"/>
            <a:ext cx="4118700" cy="1843200"/>
          </a:xfrm>
          <a:prstGeom prst="roundRect">
            <a:avLst>
              <a:gd name="adj" fmla="val 5652"/>
            </a:avLst>
          </a:prstGeom>
          <a:solidFill>
            <a:srgbClr val="1E293B"/>
          </a:solidFill>
          <a:ln w="9525" cap="flat" cmpd="sng">
            <a:solidFill>
              <a:srgbClr val="2F3B4F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467887" y="201384"/>
            <a:ext cx="576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ko" sz="2200" b="1" i="0" u="none" strike="noStrike" cap="none" dirty="0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DIP 위반 사례(Bad Case) : 구체 클래스 의존</a:t>
            </a:r>
            <a:endParaRPr sz="2200" b="1" i="0" u="none" strike="noStrike" cap="none" dirty="0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467943" y="545048"/>
            <a:ext cx="7218900" cy="768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2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" sz="1200" b="0" i="0" u="none" strike="noStrike" cap="none" dirty="0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결제 시스템이 특정 페이에 직접 의존할 때 발생하는 문제점</a:t>
            </a:r>
            <a:endParaRPr sz="1200" b="0" i="0" u="none" strike="noStrike" cap="none" dirty="0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87252" y="227251"/>
            <a:ext cx="80700" cy="753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66225" y="1223358"/>
            <a:ext cx="4519500" cy="3715048"/>
          </a:xfrm>
          <a:prstGeom prst="roundRect">
            <a:avLst>
              <a:gd name="adj" fmla="val 2867"/>
            </a:avLst>
          </a:prstGeom>
          <a:solidFill>
            <a:srgbClr val="1E293B"/>
          </a:solidFill>
          <a:ln w="9525" cap="flat" cmpd="sng">
            <a:solidFill>
              <a:srgbClr val="2F3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4"/>
          <p:cNvGrpSpPr/>
          <p:nvPr/>
        </p:nvGrpSpPr>
        <p:grpSpPr>
          <a:xfrm>
            <a:off x="3600450" y="1075432"/>
            <a:ext cx="1085282" cy="325122"/>
            <a:chOff x="3618475" y="1226500"/>
            <a:chExt cx="983100" cy="276900"/>
          </a:xfrm>
        </p:grpSpPr>
        <p:sp>
          <p:nvSpPr>
            <p:cNvPr id="114" name="Google Shape;114;p4"/>
            <p:cNvSpPr/>
            <p:nvPr/>
          </p:nvSpPr>
          <p:spPr>
            <a:xfrm>
              <a:off x="3782725" y="1307950"/>
              <a:ext cx="654600" cy="114000"/>
            </a:xfrm>
            <a:prstGeom prst="roundRect">
              <a:avLst>
                <a:gd name="adj" fmla="val 17246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chemeClr val="l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3618475" y="1226500"/>
              <a:ext cx="983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" sz="500" b="1" i="0" u="none" strike="noStrike" cap="none" dirty="0">
                  <a:solidFill>
                    <a:schemeClr val="l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Bad_Example.java</a:t>
              </a:r>
              <a:endParaRPr sz="500" b="1" i="0" u="none" strike="noStrike" cap="none" dirty="0">
                <a:solidFill>
                  <a:schemeClr val="l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116" name="Google Shape;116;p4"/>
          <p:cNvSpPr txBox="1"/>
          <p:nvPr/>
        </p:nvSpPr>
        <p:spPr>
          <a:xfrm>
            <a:off x="357475" y="1308074"/>
            <a:ext cx="4137000" cy="3545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// 저수준 모듈(구현체) - 변경될 가능성이 높음</a:t>
            </a:r>
            <a:endParaRPr sz="1000" b="0" i="0" u="none" strike="noStrike" cap="none" dirty="0">
              <a:solidFill>
                <a:srgbClr val="C084F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SamsungPay 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ko" sz="10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processPayment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amount) {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”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삼성페이로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 ”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amount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”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원을 결제합니다.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”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 b="0" i="0" u="none" strike="noStrike" cap="none" dirty="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 b="0" i="0" u="none" strike="noStrike" cap="none" dirty="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b="0" i="0" u="none" strike="noStrike" cap="none" dirty="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// 고수준 모델</a:t>
            </a:r>
            <a:endParaRPr sz="1000" b="0" i="0" u="none" strike="noStrike" cap="none" dirty="0">
              <a:solidFill>
                <a:srgbClr val="64748B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Store 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 b="0" i="1" u="none" strike="noStrike" cap="none" dirty="0">
              <a:solidFill>
                <a:srgbClr val="6474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SamsungPay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samsungPay;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 b="0" i="0" u="none" strike="noStrike" cap="none" dirty="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000" b="0" i="0" u="none" strike="noStrike" cap="none" dirty="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public Store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00" b="0" i="0" u="none" strike="noStrike" cap="none" dirty="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ko" sz="1000" b="0" i="0" u="none" strike="noStrike" cap="none" dirty="0" smtClean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ko" sz="1000" b="0" i="0" u="none" strike="noStrike" cap="none" dirty="0" smtClean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ko" altLang="ko-KR" sz="1000" dirty="0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SamsungPay</a:t>
            </a:r>
            <a:r>
              <a:rPr lang="ko" sz="1000" b="0" i="0" u="none" strike="noStrike" cap="none" dirty="0" smtClean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-US" altLang="ko" sz="1000" dirty="0" smtClean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ko" sz="1000" b="0" i="0" u="none" strike="noStrike" cap="none" dirty="0" smtClean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altLang="ko" sz="1000" dirty="0" err="1" smtClean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SamsungP</a:t>
            </a:r>
            <a:r>
              <a:rPr lang="ko" altLang="ko-KR" sz="1000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ay</a:t>
            </a:r>
            <a:r>
              <a:rPr lang="ko" sz="1000" b="0" i="0" u="none" strike="noStrike" cap="none" dirty="0" smtClean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ko" sz="1000" b="0" i="0" u="none" strike="noStrike" cap="none" dirty="0" smtClean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 b="0" i="0" u="none" strike="noStrike" cap="none" dirty="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 b="0" i="0" u="none" strike="noStrike" cap="none" dirty="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 smtClean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 smtClean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ko" sz="1000" b="0" i="0" u="none" strike="noStrike" cap="none" dirty="0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r>
              <a:rPr lang="ko" sz="1000" b="0" i="0" u="none" strike="noStrike" cap="none" dirty="0" smtClean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ko" sz="1000" b="0" i="0" u="none" strike="noStrike" cap="none" dirty="0" smtClean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amount) {</a:t>
            </a:r>
            <a:endParaRPr sz="1000" b="0" i="0" u="none" strike="noStrike" cap="none" dirty="0" smtClean="0">
              <a:solidFill>
                <a:srgbClr val="E2E8F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lvl="0">
              <a:lnSpc>
                <a:spcPct val="115000"/>
              </a:lnSpc>
              <a:buSzPts val="1000"/>
            </a:pPr>
            <a:r>
              <a:rPr lang="ko" sz="1000" b="0" i="0" u="none" strike="noStrike" cap="none" dirty="0" smtClean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altLang="ko" sz="1000" dirty="0" err="1" smtClean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SamsungP</a:t>
            </a:r>
            <a:r>
              <a:rPr lang="ko" altLang="ko-KR" sz="1000" dirty="0" smtClean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ay</a:t>
            </a:r>
            <a:r>
              <a:rPr lang="en-US" altLang="ko" sz="1000" dirty="0" smtClean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altLang="ko" sz="1000" dirty="0" err="1" smtClean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processPayment</a:t>
            </a:r>
            <a:r>
              <a:rPr lang="ko" sz="1000" b="0" i="0" u="none" strike="noStrike" cap="none" dirty="0" smtClean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altLang="ko-KR" sz="1000" dirty="0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r>
              <a:rPr lang="ko" sz="1000" b="0" i="0" u="none" strike="noStrike" cap="none" dirty="0" smtClean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 b="0" i="0" u="none" strike="noStrike" cap="none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 b="0" i="0" u="none" strike="noStrike" cap="none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000" b="0" i="0" u="none" strike="noStrike" cap="none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b="0" i="0" u="none" strike="noStrike" cap="none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7" name="Google Shape;117;p4"/>
          <p:cNvGrpSpPr/>
          <p:nvPr/>
        </p:nvGrpSpPr>
        <p:grpSpPr>
          <a:xfrm>
            <a:off x="5097702" y="3305135"/>
            <a:ext cx="3950604" cy="1826195"/>
            <a:chOff x="5225209" y="2276978"/>
            <a:chExt cx="3753900" cy="2741622"/>
          </a:xfrm>
        </p:grpSpPr>
        <p:sp>
          <p:nvSpPr>
            <p:cNvPr id="118" name="Google Shape;118;p4"/>
            <p:cNvSpPr txBox="1"/>
            <p:nvPr/>
          </p:nvSpPr>
          <p:spPr>
            <a:xfrm>
              <a:off x="5467888" y="2276978"/>
              <a:ext cx="1311600" cy="57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ko" sz="1300" b="1" i="0" u="none" strike="noStrike" cap="none" dirty="0">
                  <a:solidFill>
                    <a:srgbClr val="EF4444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설계의 문제점</a:t>
              </a:r>
              <a:endParaRPr sz="1300" b="1" i="0" u="none" strike="noStrike" cap="none" dirty="0">
                <a:solidFill>
                  <a:srgbClr val="EF4444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5225209" y="2746400"/>
              <a:ext cx="3753900" cy="227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ko" sz="900" b="1" i="0" u="none" strike="noStrike" cap="none" dirty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● 확장성 부족</a:t>
              </a:r>
              <a:r>
                <a:rPr lang="ko" sz="900" b="0" i="0" u="none" strike="noStrike" cap="none" dirty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: 타 결제 수단 추가 시 </a:t>
              </a:r>
              <a:r>
                <a:rPr lang="ko" sz="1000" b="0" i="0" u="none" strike="noStrike" cap="none" dirty="0">
                  <a:solidFill>
                    <a:srgbClr val="60A5FA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Store </a:t>
              </a:r>
              <a:r>
                <a:rPr lang="ko" sz="900" b="0" i="0" u="none" strike="noStrike" cap="none" dirty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클래스 코드 수정 필수</a:t>
              </a:r>
              <a:endParaRPr sz="9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lvl="0">
                <a:lnSpc>
                  <a:spcPct val="150000"/>
                </a:lnSpc>
                <a:buClr>
                  <a:schemeClr val="dk1"/>
                </a:buClr>
                <a:buSzPts val="1100"/>
              </a:pPr>
              <a:r>
                <a:rPr lang="ko" sz="900" b="1" i="0" u="none" strike="noStrike" cap="none" dirty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● 강한 결합도</a:t>
              </a:r>
              <a:r>
                <a:rPr lang="ko" sz="900" b="0" i="0" u="none" strike="noStrike" cap="none" dirty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: </a:t>
              </a:r>
              <a:r>
                <a:rPr lang="ko" altLang="ko-KR" sz="1000" dirty="0" smtClean="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SamsungPay</a:t>
              </a:r>
              <a:r>
                <a:rPr lang="ko-KR" altLang="en-US" sz="900" dirty="0" smtClean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변경</a:t>
              </a:r>
              <a:r>
                <a:rPr lang="en-US" altLang="ko-KR" sz="900" dirty="0" smtClean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</a:t>
              </a:r>
              <a:r>
                <a:rPr lang="ko" sz="900" b="0" i="0" u="none" strike="noStrike" cap="none" dirty="0" smtClean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장애 </a:t>
              </a:r>
              <a:r>
                <a:rPr lang="ko" sz="900" b="0" i="0" u="none" strike="noStrike" cap="none" dirty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시 </a:t>
              </a:r>
              <a:r>
                <a:rPr lang="ko" altLang="ko-KR" sz="1000" dirty="0">
                  <a:solidFill>
                    <a:srgbClr val="60A5F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Store</a:t>
              </a:r>
              <a:r>
                <a:rPr lang="ko" sz="1000" b="0" i="0" u="none" strike="noStrike" cap="none" dirty="0" smtClean="0">
                  <a:solidFill>
                    <a:srgbClr val="60A5FA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 </a:t>
              </a:r>
              <a:r>
                <a:rPr lang="ko" sz="900" b="0" i="0" u="none" strike="noStrike" cap="none" dirty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로직 전체 영향</a:t>
              </a:r>
              <a:endParaRPr sz="9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900" b="1" i="0" u="none" strike="noStrike" cap="none" dirty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● 테스트 한계</a:t>
              </a:r>
              <a:r>
                <a:rPr lang="ko" sz="900" b="0" i="0" u="none" strike="noStrike" cap="none" dirty="0">
                  <a:solidFill>
                    <a:srgbClr val="D7E0EC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: 실제 모듈 없이 주문 로직 단독 검증 불가</a:t>
              </a:r>
              <a:endParaRPr sz="9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120" name="Google Shape;120;p4"/>
          <p:cNvSpPr/>
          <p:nvPr/>
        </p:nvSpPr>
        <p:spPr>
          <a:xfrm>
            <a:off x="6844761" y="1892650"/>
            <a:ext cx="54600" cy="4023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219371" y="1265925"/>
            <a:ext cx="1305300" cy="603000"/>
          </a:xfrm>
          <a:prstGeom prst="roundRect">
            <a:avLst>
              <a:gd name="adj" fmla="val 5652"/>
            </a:avLst>
          </a:prstGeom>
          <a:solidFill>
            <a:srgbClr val="1E3A8A"/>
          </a:solidFill>
          <a:ln w="9525" cap="flat" cmpd="sng">
            <a:solidFill>
              <a:srgbClr val="336E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219421" y="2318675"/>
            <a:ext cx="1305300" cy="603000"/>
          </a:xfrm>
          <a:prstGeom prst="roundRect">
            <a:avLst>
              <a:gd name="adj" fmla="val 5652"/>
            </a:avLst>
          </a:prstGeom>
          <a:solidFill>
            <a:srgbClr val="334155"/>
          </a:solidFill>
          <a:ln w="9525" cap="flat" cmpd="sng">
            <a:solidFill>
              <a:srgbClr val="5565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6283186" y="1217025"/>
            <a:ext cx="1177800" cy="662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 b="1" i="0" u="none" strike="noStrike" cap="none" dirty="0" smtClean="0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Store</a:t>
            </a:r>
            <a:r>
              <a:rPr lang="en-US" altLang="ko" sz="1100" b="1" dirty="0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/>
            </a:r>
            <a:br>
              <a:rPr lang="en-US" altLang="ko" sz="1100" b="1" dirty="0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" sz="800" b="0" i="0" u="none" strike="noStrike" cap="none" dirty="0" smtClean="0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High-Level </a:t>
            </a:r>
            <a:r>
              <a:rPr lang="ko" sz="800" b="0" i="0" u="none" strike="noStrike" cap="none" dirty="0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Module</a:t>
            </a:r>
            <a:br>
              <a:rPr lang="ko" sz="800" b="0" i="0" u="none" strike="noStrike" cap="none" dirty="0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800" b="0" i="0" u="none" strike="noStrike" cap="none" dirty="0">
                <a:solidFill>
                  <a:srgbClr val="BFDBFE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(Logic, Policy)</a:t>
            </a:r>
            <a:endParaRPr sz="800" b="0" i="0" u="none" strike="noStrike" cap="none" dirty="0">
              <a:solidFill>
                <a:srgbClr val="BFDBFE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6043261" y="2294325"/>
            <a:ext cx="16575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 b="1" i="0" u="none" strike="noStrike" cap="none" dirty="0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SamsungPay</a:t>
            </a:r>
            <a:endParaRPr sz="1100" b="1" i="0" u="none" strike="noStrike" cap="none" dirty="0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ko" sz="800" b="0" i="0" u="none" strike="noStrike" cap="none" dirty="0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Low-Level Module</a:t>
            </a:r>
            <a:br>
              <a:rPr lang="ko" sz="800" b="0" i="0" u="none" strike="noStrike" cap="none" dirty="0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800" b="0" i="0" u="none" strike="noStrike" cap="none" dirty="0">
                <a:solidFill>
                  <a:srgbClr val="CBD5E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(Detail, Implementation)</a:t>
            </a:r>
            <a:endParaRPr sz="800" b="0" i="0" u="none" strike="noStrike" cap="none" dirty="0">
              <a:solidFill>
                <a:srgbClr val="CBD5E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125" name="Google Shape;125;p4"/>
          <p:cNvGrpSpPr/>
          <p:nvPr/>
        </p:nvGrpSpPr>
        <p:grpSpPr>
          <a:xfrm>
            <a:off x="6961736" y="2004925"/>
            <a:ext cx="1404000" cy="171300"/>
            <a:chOff x="7144325" y="2004925"/>
            <a:chExt cx="1404000" cy="171300"/>
          </a:xfrm>
        </p:grpSpPr>
        <p:sp>
          <p:nvSpPr>
            <p:cNvPr id="126" name="Google Shape;126;p4"/>
            <p:cNvSpPr/>
            <p:nvPr/>
          </p:nvSpPr>
          <p:spPr>
            <a:xfrm>
              <a:off x="7202825" y="2004925"/>
              <a:ext cx="1287000" cy="171300"/>
            </a:xfrm>
            <a:prstGeom prst="roundRect">
              <a:avLst>
                <a:gd name="adj" fmla="val 5652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7144325" y="2014525"/>
              <a:ext cx="1404000" cy="15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lang="ko" sz="650" b="1" i="0" u="none" strike="noStrike" cap="none" dirty="0">
                  <a:solidFill>
                    <a:srgbClr val="FFFF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직접 의존 (Direct Dependency)</a:t>
              </a:r>
              <a:endParaRPr sz="1100" b="1" i="0" u="none" strike="noStrike" cap="none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128" name="Google Shape;128;p4" title="err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839" y="3343958"/>
            <a:ext cx="294525" cy="2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206325" y="2161889"/>
            <a:ext cx="4305000" cy="2763900"/>
          </a:xfrm>
          <a:prstGeom prst="roundRect">
            <a:avLst>
              <a:gd name="adj" fmla="val 2867"/>
            </a:avLst>
          </a:prstGeom>
          <a:solidFill>
            <a:srgbClr val="1E293B"/>
          </a:solidFill>
          <a:ln w="9525" cap="flat" cmpd="sng">
            <a:solidFill>
              <a:srgbClr val="2F3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709925" y="1153150"/>
            <a:ext cx="4220400" cy="3772800"/>
          </a:xfrm>
          <a:prstGeom prst="roundRect">
            <a:avLst>
              <a:gd name="adj" fmla="val 1435"/>
            </a:avLst>
          </a:prstGeom>
          <a:solidFill>
            <a:srgbClr val="1E293B"/>
          </a:solidFill>
          <a:ln w="9525" cap="flat" cmpd="sng">
            <a:solidFill>
              <a:srgbClr val="2F3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06325" y="1153154"/>
            <a:ext cx="4305000" cy="905400"/>
          </a:xfrm>
          <a:prstGeom prst="roundRect">
            <a:avLst>
              <a:gd name="adj" fmla="val 7334"/>
            </a:avLst>
          </a:prstGeom>
          <a:solidFill>
            <a:srgbClr val="1E293B"/>
          </a:solidFill>
          <a:ln w="9525" cap="flat" cmpd="sng">
            <a:solidFill>
              <a:srgbClr val="2F3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467949" y="201372"/>
            <a:ext cx="609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ko" sz="2200" b="1" i="0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DIP 적용 사례(Good Case): 인터페이스 의존</a:t>
            </a:r>
            <a:endParaRPr sz="2200" b="1" i="0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467952" y="540170"/>
            <a:ext cx="7218900" cy="768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2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" sz="1200" b="0" i="0" u="none" strike="noStrike" cap="none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인터페이스를 통한 결제 시스템의 유연성 확보</a:t>
            </a:r>
            <a:endParaRPr sz="1300" b="0" i="0" u="none" strike="noStrike" cap="none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87252" y="227251"/>
            <a:ext cx="80700" cy="753300"/>
          </a:xfrm>
          <a:prstGeom prst="rect">
            <a:avLst/>
          </a:prstGeom>
          <a:solidFill>
            <a:srgbClr val="3EAD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392925" y="1149566"/>
            <a:ext cx="3931800" cy="9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altLang="ko" sz="1000" dirty="0" smtClean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// 1. </a:t>
            </a:r>
            <a:r>
              <a:rPr lang="ko-KR" altLang="en-US" sz="1000" dirty="0" smtClean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추상화</a:t>
            </a:r>
            <a:r>
              <a:rPr lang="en-US" altLang="ko-KR" sz="1000" dirty="0" smtClean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(</a:t>
            </a:r>
            <a:r>
              <a:rPr lang="ko-KR" altLang="en-US" sz="1000" dirty="0" smtClean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인터페이스</a:t>
            </a:r>
            <a:r>
              <a:rPr lang="en-US" altLang="ko-KR" sz="1000" dirty="0" smtClean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)- </a:t>
            </a:r>
            <a:r>
              <a:rPr lang="ko-KR" altLang="en-US" sz="1000" dirty="0" smtClean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변경될 가능성이 낮음</a:t>
            </a:r>
            <a:endParaRPr sz="1000" b="0" i="0" u="none" strike="noStrike" cap="none" dirty="0" smtClean="0">
              <a:solidFill>
                <a:srgbClr val="94A3B8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0" i="0" u="none" strike="noStrike" cap="none" dirty="0" smtClean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ko" sz="1000" b="0" i="0" u="none" strike="noStrike" cap="none" dirty="0" smtClean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 </a:t>
            </a:r>
            <a:r>
              <a:rPr lang="ko" sz="1000" b="0" i="0" u="none" strike="noStrike" cap="none" dirty="0" smtClean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 b="0" i="0" u="none" strike="noStrike" cap="none" dirty="0" smtClean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0" i="0" u="none" strike="noStrike" cap="none" dirty="0" smtClean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processPayment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ko" sz="10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amount</a:t>
            </a:r>
            <a:r>
              <a:rPr lang="ko" sz="1000" b="0" i="0" u="none" strike="noStrike" cap="none" dirty="0" smtClean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);}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40" name="Google Shape;140;p5"/>
          <p:cNvGrpSpPr/>
          <p:nvPr/>
        </p:nvGrpSpPr>
        <p:grpSpPr>
          <a:xfrm>
            <a:off x="3476313" y="1020645"/>
            <a:ext cx="1055063" cy="294600"/>
            <a:chOff x="3606557" y="1075432"/>
            <a:chExt cx="983100" cy="294600"/>
          </a:xfrm>
        </p:grpSpPr>
        <p:sp>
          <p:nvSpPr>
            <p:cNvPr id="141" name="Google Shape;141;p5"/>
            <p:cNvSpPr/>
            <p:nvPr/>
          </p:nvSpPr>
          <p:spPr>
            <a:xfrm>
              <a:off x="3770807" y="1162063"/>
              <a:ext cx="654600" cy="121250"/>
            </a:xfrm>
            <a:prstGeom prst="roundRect">
              <a:avLst>
                <a:gd name="adj" fmla="val 17246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1" i="0" u="none" strike="noStrike" cap="none">
                <a:solidFill>
                  <a:srgbClr val="064E3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3606557" y="1075432"/>
              <a:ext cx="9831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ko" sz="500" b="1" i="0" u="none" strike="noStrike" cap="none" dirty="0">
                  <a:solidFill>
                    <a:srgbClr val="064E3B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Good_Example.java</a:t>
              </a:r>
              <a:endParaRPr sz="500" b="1" i="0" u="none" strike="noStrike" cap="none" dirty="0">
                <a:solidFill>
                  <a:srgbClr val="064E3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143" name="Google Shape;143;p5"/>
          <p:cNvSpPr txBox="1"/>
          <p:nvPr/>
        </p:nvSpPr>
        <p:spPr>
          <a:xfrm>
            <a:off x="4878375" y="1542700"/>
            <a:ext cx="3883500" cy="283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// 3. 고수준 모듈 (오직 추상화에만 의존)</a:t>
            </a:r>
            <a:endParaRPr sz="1000" b="0" i="0" u="none" strike="noStrike" cap="none" dirty="0">
              <a:solidFill>
                <a:srgbClr val="64748B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Store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private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 b="0" i="0" u="none" strike="noStrike" cap="none" dirty="0">
              <a:solidFill>
                <a:srgbClr val="6474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// 생성자를 통해 추상화 타입만 요구함</a:t>
            </a:r>
            <a:endParaRPr sz="1000" b="0" i="0" u="none" strike="noStrike" cap="none" dirty="0">
              <a:solidFill>
                <a:srgbClr val="64748B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 b="0" i="0" u="none" strike="noStrike" cap="none" dirty="0">
              <a:solidFill>
                <a:srgbClr val="6474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6474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amount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processPayment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amount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// 구체적으로 어떤 페이인지 알 필요 없음</a:t>
            </a:r>
            <a:endParaRPr sz="1000" b="0" i="0" u="none" strike="noStrike" cap="none" dirty="0">
              <a:solidFill>
                <a:srgbClr val="64748B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363225" y="2223999"/>
            <a:ext cx="3991200" cy="26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// 2. 저수준 모듈 (추상화 규격에 맞춰 구현)</a:t>
            </a:r>
            <a:endParaRPr sz="1000" b="0" i="0" u="none" strike="noStrike" cap="none" dirty="0">
              <a:solidFill>
                <a:srgbClr val="64748B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SamsungPay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implements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@Override</a:t>
            </a:r>
            <a:endParaRPr sz="1000" b="0" i="1" u="none" strike="noStrike" cap="none" dirty="0">
              <a:solidFill>
                <a:srgbClr val="6474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processPayment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amount) {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삼성페이로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amount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원을 결제합니다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."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 smtClean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 smtClean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 smtClean="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 smtClean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ko" sz="1000" b="0" i="0" u="none" strike="noStrike" cap="none" dirty="0" smtClean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KakaoPay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implements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PaymentProcessor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@Override</a:t>
            </a:r>
            <a:endParaRPr sz="1000" b="0" i="1" u="none" strike="noStrike" cap="none" dirty="0">
              <a:solidFill>
                <a:srgbClr val="6474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processPayment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amount) {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카카오페이로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 "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amount </a:t>
            </a:r>
            <a:r>
              <a:rPr lang="ko" sz="1000" b="0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ko" sz="1000" b="0" i="0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Courier New"/>
                <a:sym typeface="Courier New"/>
              </a:rPr>
              <a:t>원을 결제합니다.</a:t>
            </a:r>
            <a:r>
              <a:rPr lang="ko" sz="1000" b="0" i="0" u="none" strike="noStrike" cap="none" dirty="0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" sz="1000" b="0" i="0" u="none" strike="noStrike" cap="none" dirty="0">
                <a:solidFill>
                  <a:schemeClr val="bg1">
                    <a:lumMod val="95000"/>
                  </a:schemeClr>
                </a:solidFill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1000" b="0" i="0" u="none" strike="noStrike" cap="none" dirty="0">
              <a:solidFill>
                <a:schemeClr val="bg1">
                  <a:lumMod val="95000"/>
                </a:schemeClr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6"/>
          <p:cNvGrpSpPr/>
          <p:nvPr/>
        </p:nvGrpSpPr>
        <p:grpSpPr>
          <a:xfrm>
            <a:off x="309554" y="1267983"/>
            <a:ext cx="4428782" cy="3531300"/>
            <a:chOff x="309554" y="1267983"/>
            <a:chExt cx="4428782" cy="3531300"/>
          </a:xfrm>
        </p:grpSpPr>
        <p:sp>
          <p:nvSpPr>
            <p:cNvPr id="150" name="Google Shape;150;p6"/>
            <p:cNvSpPr/>
            <p:nvPr/>
          </p:nvSpPr>
          <p:spPr>
            <a:xfrm>
              <a:off x="309554" y="1267983"/>
              <a:ext cx="4118700" cy="3531300"/>
            </a:xfrm>
            <a:prstGeom prst="roundRect">
              <a:avLst>
                <a:gd name="adj" fmla="val 3913"/>
              </a:avLst>
            </a:prstGeom>
            <a:solidFill>
              <a:srgbClr val="1E293B"/>
            </a:solidFill>
            <a:ln w="9525" cap="flat" cmpd="sng">
              <a:solidFill>
                <a:srgbClr val="2F3B4F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3471136" y="4471550"/>
              <a:ext cx="1267200" cy="326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190500" marR="190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ko" sz="800" b="0" i="0" u="none" strike="noStrike" cap="none">
                  <a:solidFill>
                    <a:srgbClr val="10B981"/>
                  </a:solidFill>
                  <a:highlight>
                    <a:srgbClr val="1E293B"/>
                  </a:highlight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✔ OCP 준수</a:t>
              </a:r>
              <a:endParaRPr sz="800" b="0" i="0" u="none" strike="noStrike" cap="none">
                <a:solidFill>
                  <a:srgbClr val="10B981"/>
                </a:solidFill>
                <a:highlight>
                  <a:srgbClr val="1E293B"/>
                </a:highlight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152" name="Google Shape;152;p6"/>
          <p:cNvSpPr/>
          <p:nvPr/>
        </p:nvSpPr>
        <p:spPr>
          <a:xfrm>
            <a:off x="4715750" y="1267980"/>
            <a:ext cx="4118700" cy="3531300"/>
          </a:xfrm>
          <a:prstGeom prst="roundRect">
            <a:avLst>
              <a:gd name="adj" fmla="val 2717"/>
            </a:avLst>
          </a:prstGeom>
          <a:solidFill>
            <a:srgbClr val="0F2833"/>
          </a:solidFill>
          <a:ln w="9525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467949" y="201372"/>
            <a:ext cx="609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ko" sz="2200" b="1" i="0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DIP 적용 사례(Good Case): 인터페이스 의존</a:t>
            </a:r>
            <a:endParaRPr sz="2200" b="1" i="0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467943" y="534564"/>
            <a:ext cx="7218900" cy="768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23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" sz="1200" b="0" i="0" u="none" strike="noStrike" cap="none" dirty="0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인터페이스를 통한 결제 시스템의 유연성 확보</a:t>
            </a:r>
            <a:endParaRPr sz="1300" b="0" i="0" u="none" strike="noStrike" cap="none" dirty="0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87252" y="227251"/>
            <a:ext cx="80700" cy="753300"/>
          </a:xfrm>
          <a:prstGeom prst="rect">
            <a:avLst/>
          </a:prstGeom>
          <a:solidFill>
            <a:srgbClr val="3EAD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156" name="Google Shape;156;p6"/>
          <p:cNvGrpSpPr/>
          <p:nvPr/>
        </p:nvGrpSpPr>
        <p:grpSpPr>
          <a:xfrm>
            <a:off x="1704939" y="1870200"/>
            <a:ext cx="1305300" cy="700800"/>
            <a:chOff x="1743289" y="1332180"/>
            <a:chExt cx="1305300" cy="700800"/>
          </a:xfrm>
        </p:grpSpPr>
        <p:sp>
          <p:nvSpPr>
            <p:cNvPr id="157" name="Google Shape;157;p6"/>
            <p:cNvSpPr/>
            <p:nvPr/>
          </p:nvSpPr>
          <p:spPr>
            <a:xfrm>
              <a:off x="1743289" y="1352715"/>
              <a:ext cx="1305300" cy="603000"/>
            </a:xfrm>
            <a:prstGeom prst="roundRect">
              <a:avLst>
                <a:gd name="adj" fmla="val 5652"/>
              </a:avLst>
            </a:prstGeom>
            <a:solidFill>
              <a:srgbClr val="1E3A8A"/>
            </a:solidFill>
            <a:ln w="9525" cap="flat" cmpd="sng">
              <a:solidFill>
                <a:srgbClr val="336ED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58" name="Google Shape;158;p6"/>
            <p:cNvSpPr txBox="1"/>
            <p:nvPr/>
          </p:nvSpPr>
          <p:spPr>
            <a:xfrm>
              <a:off x="1807029" y="1332180"/>
              <a:ext cx="1177800" cy="70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" sz="1100" b="1" i="0" u="none" strike="noStrike" cap="none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Store</a:t>
              </a:r>
              <a:br>
                <a:rPr lang="ko" sz="1100" b="1" i="0" u="none" strike="noStrike" cap="none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</a:br>
              <a:r>
                <a:rPr lang="ko" sz="800" b="0" i="0" u="none" strike="noStrike" cap="none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High-Level Module</a:t>
              </a:r>
              <a:br>
                <a:rPr lang="ko" sz="800" b="0" i="0" u="none" strike="noStrike" cap="none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</a:br>
              <a:r>
                <a:rPr lang="ko" sz="800" b="0" i="0" u="none" strike="noStrike" cap="none">
                  <a:solidFill>
                    <a:srgbClr val="BFDBF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(Logic, Policy)</a:t>
              </a:r>
              <a:endParaRPr sz="800" b="0" i="0" u="none" strike="noStrike" cap="none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160" name="Google Shape;160;p6"/>
          <p:cNvSpPr txBox="1"/>
          <p:nvPr/>
        </p:nvSpPr>
        <p:spPr>
          <a:xfrm>
            <a:off x="5092467" y="1870200"/>
            <a:ext cx="3365265" cy="2848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850"/>
            </a:pPr>
            <a:r>
              <a:rPr lang="ko" altLang="ko-KR" sz="1200" b="1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 </a:t>
            </a:r>
            <a:r>
              <a:rPr lang="ko" sz="1200" b="1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결제 </a:t>
            </a:r>
            <a:r>
              <a:rPr lang="ko" sz="1200" b="1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수단 확장의 유연성(Scalability</a:t>
            </a:r>
            <a:r>
              <a:rPr lang="ko" sz="1200" b="1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)</a:t>
            </a:r>
            <a:r>
              <a:rPr lang="en-US" altLang="ko" sz="1050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/>
            </a:r>
            <a:br>
              <a:rPr lang="en-US" altLang="ko" sz="1050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새로운 </a:t>
            </a:r>
            <a:r>
              <a:rPr lang="ko" sz="10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결제 수단(애플페이, 카카오페이 등)이 </a:t>
            </a: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추가되어도</a:t>
            </a:r>
            <a:r>
              <a:rPr lang="en-US" alt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/>
            </a:r>
            <a:br>
              <a:rPr lang="en-US" alt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기존의 </a:t>
            </a:r>
            <a:r>
              <a:rPr lang="ko" altLang="ko-KR" sz="1000" dirty="0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클래스 </a:t>
            </a:r>
            <a:r>
              <a:rPr lang="ko" sz="10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코드를 수정할 필요가 없습니다.</a:t>
            </a:r>
            <a:endParaRPr sz="1000" b="0" i="0" u="none" strike="noStrike" cap="none" dirty="0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endParaRPr sz="1050" b="0" i="0" u="none" strike="noStrike" cap="none" dirty="0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endParaRPr sz="1050" b="0" i="0" u="none" strike="noStrike" cap="none" dirty="0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ko" altLang="ko-KR" sz="1200" b="1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 </a:t>
            </a:r>
            <a:r>
              <a:rPr lang="ko" sz="1200" b="1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상위 </a:t>
            </a:r>
            <a:r>
              <a:rPr lang="ko" sz="1200" b="1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모듈의 안정성 확보(Low Coupling</a:t>
            </a:r>
            <a:r>
              <a:rPr lang="ko" sz="1200" b="1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)</a:t>
            </a:r>
            <a:r>
              <a:rPr lang="en-US" altLang="ko" sz="1050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/>
            </a:r>
            <a:br>
              <a:rPr lang="en-US" altLang="ko" sz="1050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결제 </a:t>
            </a:r>
            <a:r>
              <a:rPr lang="ko" sz="10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시스템의 세부 구현(삼성페이의 내부 로직 변경 등)</a:t>
            </a: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이</a:t>
            </a:r>
            <a:r>
              <a:rPr lang="en-US" alt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/>
            </a:r>
            <a:br>
              <a:rPr lang="en-US" alt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바뀌더라도</a:t>
            </a:r>
            <a:r>
              <a:rPr lang="ko" sz="10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, 상위 비즈니스 로직인 </a:t>
            </a:r>
            <a:r>
              <a:rPr lang="ko" altLang="ko-KR" sz="1000" dirty="0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는 </a:t>
            </a: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영향을</a:t>
            </a:r>
            <a:r>
              <a:rPr lang="en-US" alt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/>
            </a:r>
            <a:br>
              <a:rPr lang="en-US" alt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받지 </a:t>
            </a:r>
            <a:r>
              <a:rPr lang="ko" sz="10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않습니다.</a:t>
            </a:r>
            <a:endParaRPr sz="1000" b="0" i="0" u="none" strike="noStrike" cap="none" dirty="0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endParaRPr sz="1050" b="0" i="0" u="none" strike="noStrike" cap="none" dirty="0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endParaRPr sz="1050" b="0" i="0" u="none" strike="noStrike" cap="none" dirty="0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ko" altLang="ko-KR" sz="1200" b="1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 </a:t>
            </a:r>
            <a:r>
              <a:rPr lang="ko" sz="1200" b="1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독립적인 </a:t>
            </a:r>
            <a:r>
              <a:rPr lang="ko" sz="1200" b="1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테스트 가능(Testability</a:t>
            </a:r>
            <a:r>
              <a:rPr lang="ko" sz="1200" b="1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)</a:t>
            </a:r>
            <a:r>
              <a:rPr lang="en-US" altLang="ko" sz="1050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/>
            </a:r>
            <a:br>
              <a:rPr lang="en-US" altLang="ko" sz="1050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실제 </a:t>
            </a:r>
            <a:r>
              <a:rPr lang="ko" sz="10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삼성페이 API를 호출하지 않고도</a:t>
            </a: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,</a:t>
            </a:r>
            <a:r>
              <a:rPr lang="en-US" altLang="ko" sz="1000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/>
            </a:r>
            <a:br>
              <a:rPr lang="en-US" altLang="ko" sz="1000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가짜 </a:t>
            </a:r>
            <a:r>
              <a:rPr lang="ko" sz="10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결제 객체(Mock Object)를 주입하여 </a:t>
            </a:r>
            <a:r>
              <a:rPr lang="ko" altLang="ko-KR" sz="1000" dirty="0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ko-KR" altLang="en-US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의</a:t>
            </a:r>
            <a:r>
              <a:rPr lang="en-US" altLang="ko-KR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/>
            </a:r>
            <a:br>
              <a:rPr lang="en-US" altLang="ko-KR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</a:br>
            <a:r>
              <a:rPr lang="ko" sz="1000" b="0" i="0" u="none" strike="noStrike" cap="none" dirty="0" smtClean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주문 </a:t>
            </a:r>
            <a:r>
              <a:rPr lang="ko" sz="1000" b="0" i="0" u="none" strike="noStrike" cap="none" dirty="0">
                <a:solidFill>
                  <a:srgbClr val="D7E0EC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로직만 따로 떼어내 테스트할 수 있습니다.</a:t>
            </a:r>
            <a:endParaRPr sz="1000" b="0" i="0" u="none" strike="noStrike" cap="none" dirty="0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165" name="Google Shape;165;p6"/>
          <p:cNvGrpSpPr/>
          <p:nvPr/>
        </p:nvGrpSpPr>
        <p:grpSpPr>
          <a:xfrm>
            <a:off x="1667454" y="2864715"/>
            <a:ext cx="1380300" cy="670410"/>
            <a:chOff x="1705854" y="2180995"/>
            <a:chExt cx="1380300" cy="670410"/>
          </a:xfrm>
        </p:grpSpPr>
        <p:sp>
          <p:nvSpPr>
            <p:cNvPr id="166" name="Google Shape;166;p6"/>
            <p:cNvSpPr/>
            <p:nvPr/>
          </p:nvSpPr>
          <p:spPr>
            <a:xfrm>
              <a:off x="1743339" y="2192694"/>
              <a:ext cx="1305300" cy="603000"/>
            </a:xfrm>
            <a:prstGeom prst="roundRect">
              <a:avLst>
                <a:gd name="adj" fmla="val 5652"/>
              </a:avLst>
            </a:prstGeom>
            <a:solidFill>
              <a:srgbClr val="065F46"/>
            </a:solidFill>
            <a:ln w="9525" cap="flat" cmpd="sng">
              <a:solidFill>
                <a:srgbClr val="10B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1762379" y="2213982"/>
              <a:ext cx="1267200" cy="560400"/>
            </a:xfrm>
            <a:prstGeom prst="roundRect">
              <a:avLst>
                <a:gd name="adj" fmla="val 5652"/>
              </a:avLst>
            </a:prstGeom>
            <a:noFill/>
            <a:ln w="9525" cap="flat" cmpd="sng">
              <a:solidFill>
                <a:srgbClr val="10B98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68" name="Google Shape;168;p6"/>
            <p:cNvSpPr txBox="1"/>
            <p:nvPr/>
          </p:nvSpPr>
          <p:spPr>
            <a:xfrm>
              <a:off x="1705854" y="2180995"/>
              <a:ext cx="1380300" cy="6704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2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ko" sz="1000" b="1" i="0" u="none" strike="noStrike" cap="none">
                  <a:solidFill>
                    <a:srgbClr val="34D39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PaymentProcessor</a:t>
              </a:r>
              <a:br>
                <a:rPr lang="ko" sz="1000" b="1" i="0" u="none" strike="noStrike" cap="none">
                  <a:solidFill>
                    <a:srgbClr val="34D39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</a:br>
              <a:r>
                <a:rPr lang="ko" sz="800" b="0" i="0" u="none" strike="noStrike" cap="none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High-Level Module</a:t>
              </a:r>
              <a:br>
                <a:rPr lang="ko" sz="800" b="0" i="0" u="none" strike="noStrike" cap="none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</a:br>
              <a:r>
                <a:rPr lang="ko" sz="800" b="0" i="0" u="none" strike="noStrike" cap="none">
                  <a:solidFill>
                    <a:srgbClr val="BFDBF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(Logic, Policy)</a:t>
              </a:r>
              <a:endParaRPr sz="1000" b="1" i="0" u="none" strike="noStrike" cap="none">
                <a:solidFill>
                  <a:srgbClr val="34D39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4972050" y="1450216"/>
            <a:ext cx="1713500" cy="461635"/>
            <a:chOff x="4880150" y="1360162"/>
            <a:chExt cx="1713500" cy="461635"/>
          </a:xfrm>
        </p:grpSpPr>
        <p:sp>
          <p:nvSpPr>
            <p:cNvPr id="161" name="Google Shape;161;p6"/>
            <p:cNvSpPr txBox="1"/>
            <p:nvPr/>
          </p:nvSpPr>
          <p:spPr>
            <a:xfrm>
              <a:off x="5213350" y="1360162"/>
              <a:ext cx="13803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ko" sz="1800" b="1" i="0" u="none" strike="noStrike" cap="none" dirty="0">
                  <a:solidFill>
                    <a:srgbClr val="34D39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개선 효과</a:t>
              </a:r>
              <a:endParaRPr sz="1600" b="1" i="0" u="none" strike="noStrike" cap="none" dirty="0">
                <a:solidFill>
                  <a:srgbClr val="EF4444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pic>
          <p:nvPicPr>
            <p:cNvPr id="169" name="Google Shape;169;p6" title="shield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80150" y="1395805"/>
              <a:ext cx="390350" cy="390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그룹 1"/>
          <p:cNvGrpSpPr/>
          <p:nvPr/>
        </p:nvGrpSpPr>
        <p:grpSpPr>
          <a:xfrm>
            <a:off x="578291" y="3836431"/>
            <a:ext cx="3558609" cy="612445"/>
            <a:chOff x="578291" y="3703081"/>
            <a:chExt cx="3558609" cy="612445"/>
          </a:xfrm>
        </p:grpSpPr>
        <p:sp>
          <p:nvSpPr>
            <p:cNvPr id="162" name="Google Shape;162;p6"/>
            <p:cNvSpPr/>
            <p:nvPr/>
          </p:nvSpPr>
          <p:spPr>
            <a:xfrm>
              <a:off x="661241" y="3778387"/>
              <a:ext cx="1006200" cy="449400"/>
            </a:xfrm>
            <a:prstGeom prst="roundRect">
              <a:avLst>
                <a:gd name="adj" fmla="val 5652"/>
              </a:avLst>
            </a:prstGeom>
            <a:solidFill>
              <a:srgbClr val="334155"/>
            </a:solidFill>
            <a:ln w="9525" cap="flat" cmpd="sng">
              <a:solidFill>
                <a:srgbClr val="5665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125" tIns="68125" rIns="68125" bIns="68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3"/>
                <a:buFont typeface="Arial"/>
                <a:buNone/>
              </a:pPr>
              <a:endParaRPr sz="1043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1854490" y="3778387"/>
              <a:ext cx="1006200" cy="449400"/>
            </a:xfrm>
            <a:prstGeom prst="roundRect">
              <a:avLst>
                <a:gd name="adj" fmla="val 5652"/>
              </a:avLst>
            </a:prstGeom>
            <a:solidFill>
              <a:srgbClr val="334155"/>
            </a:solidFill>
            <a:ln w="9525" cap="flat" cmpd="sng">
              <a:solidFill>
                <a:srgbClr val="56657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125" tIns="68125" rIns="68125" bIns="68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3"/>
                <a:buFont typeface="Arial"/>
                <a:buNone/>
              </a:pPr>
              <a:endParaRPr sz="1043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3047738" y="3778387"/>
              <a:ext cx="1006200" cy="449400"/>
            </a:xfrm>
            <a:prstGeom prst="roundRect">
              <a:avLst>
                <a:gd name="adj" fmla="val 5652"/>
              </a:avLst>
            </a:prstGeom>
            <a:solidFill>
              <a:srgbClr val="334155"/>
            </a:solidFill>
            <a:ln w="9525" cap="flat" cmpd="sng">
              <a:solidFill>
                <a:srgbClr val="10B98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68125" tIns="68125" rIns="68125" bIns="681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43"/>
                <a:buFont typeface="Arial"/>
                <a:buNone/>
              </a:pPr>
              <a:endParaRPr sz="1043" b="0" i="0" u="none" strike="noStrike" cap="none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578291" y="3703081"/>
              <a:ext cx="1172100" cy="612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ko" sz="1000" b="1" dirty="0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SamsungPay</a:t>
              </a:r>
              <a:br>
                <a:rPr lang="ko" sz="1000" b="1" dirty="0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" sz="600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Low-Level Module</a:t>
              </a:r>
              <a:br>
                <a:rPr lang="ko" sz="600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" sz="600" dirty="0">
                  <a:solidFill>
                    <a:srgbClr val="BFDBF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(Implementation)</a:t>
              </a:r>
              <a:endParaRPr sz="11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1782854" y="3703081"/>
              <a:ext cx="1172100" cy="6124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ko" sz="1000" b="1" dirty="0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KakaoPay</a:t>
              </a:r>
              <a:br>
                <a:rPr lang="ko" sz="1000" b="1" dirty="0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" sz="600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Low-Level Module</a:t>
              </a:r>
              <a:br>
                <a:rPr lang="ko" sz="600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" sz="600" dirty="0">
                  <a:solidFill>
                    <a:srgbClr val="BFDBF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(Implementation)</a:t>
              </a:r>
              <a:endParaRPr sz="11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72" name="Google Shape;172;p6"/>
            <p:cNvSpPr txBox="1"/>
            <p:nvPr/>
          </p:nvSpPr>
          <p:spPr>
            <a:xfrm>
              <a:off x="2964800" y="3760232"/>
              <a:ext cx="1172100" cy="5062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ko" sz="1000" b="1" dirty="0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ApplePay</a:t>
              </a:r>
              <a:br>
                <a:rPr lang="ko" sz="1000" b="1" dirty="0">
                  <a:solidFill>
                    <a:srgbClr val="F1F5F9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" sz="600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New Extension</a:t>
              </a:r>
              <a:endParaRPr sz="11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cxnSp>
        <p:nvCxnSpPr>
          <p:cNvPr id="27" name="Google Shape;174;p6"/>
          <p:cNvCxnSpPr>
            <a:stCxn id="170" idx="0"/>
            <a:endCxn id="172" idx="0"/>
          </p:cNvCxnSpPr>
          <p:nvPr/>
        </p:nvCxnSpPr>
        <p:spPr>
          <a:xfrm rot="16200000" flipH="1">
            <a:off x="2329019" y="2671752"/>
            <a:ext cx="57151" cy="2386509"/>
          </a:xfrm>
          <a:prstGeom prst="bentConnector3">
            <a:avLst>
              <a:gd name="adj1" fmla="val -211107"/>
            </a:avLst>
          </a:prstGeom>
          <a:noFill/>
          <a:ln w="9525" cap="flat" cmpd="sng">
            <a:solidFill>
              <a:srgbClr val="CBD5E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" name="Google Shape;175;p6"/>
          <p:cNvCxnSpPr/>
          <p:nvPr/>
        </p:nvCxnSpPr>
        <p:spPr>
          <a:xfrm flipV="1">
            <a:off x="2368904" y="3518527"/>
            <a:ext cx="0" cy="351589"/>
          </a:xfrm>
          <a:prstGeom prst="straightConnector1">
            <a:avLst/>
          </a:prstGeom>
          <a:noFill/>
          <a:ln w="9525" cap="flat" cmpd="sng">
            <a:solidFill>
              <a:srgbClr val="CBD5E1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29" name="Google Shape;176;p6"/>
          <p:cNvCxnSpPr/>
          <p:nvPr/>
        </p:nvCxnSpPr>
        <p:spPr>
          <a:xfrm>
            <a:off x="2382979" y="2524564"/>
            <a:ext cx="25" cy="323087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126;p4"/>
          <p:cNvSpPr/>
          <p:nvPr/>
        </p:nvSpPr>
        <p:spPr>
          <a:xfrm>
            <a:off x="3111319" y="3114270"/>
            <a:ext cx="879038" cy="171300"/>
          </a:xfrm>
          <a:prstGeom prst="roundRect">
            <a:avLst>
              <a:gd name="adj" fmla="val 5652"/>
            </a:avLst>
          </a:prstGeom>
          <a:solidFill>
            <a:srgbClr val="2696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788457" y="1432730"/>
            <a:ext cx="1160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900" u="sng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900" u="sng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</a:t>
            </a:r>
            <a:r>
              <a:rPr lang="ko-KR" altLang="en-US" sz="900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코드 수정 </a:t>
            </a:r>
            <a:r>
              <a:rPr lang="ko-KR" altLang="en-US" sz="900" u="sng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없이</a:t>
            </a:r>
            <a:r>
              <a:rPr lang="en-US" altLang="ko-KR" sz="900" u="sng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/>
            </a:r>
            <a:br>
              <a:rPr lang="en-US" altLang="ko-KR" sz="900" u="sng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ko-KR" altLang="en-US" sz="900" u="sng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언제든 </a:t>
            </a:r>
            <a:r>
              <a:rPr lang="ko-KR" altLang="en-US" sz="900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추가 </a:t>
            </a:r>
            <a:r>
              <a:rPr lang="ko-KR" altLang="en-US" sz="900" u="sng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가능</a:t>
            </a:r>
            <a:r>
              <a:rPr lang="en-US" altLang="ko-KR" sz="900" u="sng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”</a:t>
            </a:r>
            <a:endParaRPr lang="ko-KR" altLang="en-US" sz="900" u="sng" dirty="0">
              <a:solidFill>
                <a:schemeClr val="accent1">
                  <a:lumMod val="40000"/>
                  <a:lumOff val="6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3" name="Google Shape;127;p4"/>
          <p:cNvSpPr txBox="1"/>
          <p:nvPr/>
        </p:nvSpPr>
        <p:spPr>
          <a:xfrm>
            <a:off x="3129831" y="3123390"/>
            <a:ext cx="842013" cy="1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ko-KR" altLang="en-US" sz="650" b="1" i="0" u="none" strike="noStrike" cap="none" dirty="0" smtClean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구현</a:t>
            </a:r>
            <a:r>
              <a:rPr lang="en-US" altLang="ko-KR" sz="650" b="1" dirty="0" smtClean="0">
                <a:solidFill>
                  <a:srgbClr val="FFFFFF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(Implements)</a:t>
            </a:r>
            <a:endParaRPr sz="1100" b="1" i="0" u="none" strike="noStrike" cap="none" dirty="0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728588" y="1053857"/>
            <a:ext cx="2382300" cy="2212478"/>
          </a:xfrm>
          <a:prstGeom prst="roundRect">
            <a:avLst>
              <a:gd name="adj" fmla="val 5652"/>
            </a:avLst>
          </a:prstGeom>
          <a:solidFill>
            <a:srgbClr val="1E293B"/>
          </a:solidFill>
          <a:ln w="9525" cap="flat" cmpd="sng">
            <a:solidFill>
              <a:srgbClr val="2F3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387252" y="227251"/>
            <a:ext cx="80700" cy="75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380850" y="1053857"/>
            <a:ext cx="2382300" cy="2212478"/>
          </a:xfrm>
          <a:prstGeom prst="roundRect">
            <a:avLst>
              <a:gd name="adj" fmla="val 5652"/>
            </a:avLst>
          </a:prstGeom>
          <a:solidFill>
            <a:srgbClr val="1E293B"/>
          </a:solidFill>
          <a:ln w="9525" cap="flat" cmpd="sng">
            <a:solidFill>
              <a:srgbClr val="2F3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033112" y="1053857"/>
            <a:ext cx="2382300" cy="2212478"/>
          </a:xfrm>
          <a:prstGeom prst="roundRect">
            <a:avLst>
              <a:gd name="adj" fmla="val 5652"/>
            </a:avLst>
          </a:prstGeom>
          <a:solidFill>
            <a:srgbClr val="1E293B"/>
          </a:solidFill>
          <a:ln w="9525" cap="flat" cmpd="sng">
            <a:solidFill>
              <a:srgbClr val="2F3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6666850" y="2052148"/>
            <a:ext cx="1114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ko" sz="1700" b="1" i="0" u="none" strike="noStrike" cap="none" dirty="0">
                <a:solidFill>
                  <a:srgbClr val="DCFCE7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안정성</a:t>
            </a:r>
            <a:endParaRPr sz="1100" b="0" i="0" u="none" strike="noStrike" cap="none" dirty="0">
              <a:solidFill>
                <a:srgbClr val="94A3B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28588" y="3409950"/>
            <a:ext cx="7686824" cy="1603250"/>
          </a:xfrm>
          <a:prstGeom prst="roundRect">
            <a:avLst>
              <a:gd name="adj" fmla="val 5652"/>
            </a:avLst>
          </a:prstGeom>
          <a:solidFill>
            <a:srgbClr val="1E293B"/>
          </a:solidFill>
          <a:ln w="9525" cap="flat" cmpd="sng">
            <a:solidFill>
              <a:srgbClr val="2F3B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1460324" y="3468380"/>
            <a:ext cx="156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" sz="1400" b="1" i="0" u="none" strike="noStrike" cap="none">
                <a:solidFill>
                  <a:srgbClr val="60A5FA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실전 체크리스트</a:t>
            </a:r>
            <a:endParaRPr sz="1400" b="1" i="0" u="none" strike="noStrike" cap="none">
              <a:solidFill>
                <a:srgbClr val="60A5FA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2188629" y="3808137"/>
            <a:ext cx="6066848" cy="115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 b="0" i="0" u="none" strike="noStrike" cap="none">
                <a:solidFill>
                  <a:srgbClr val="60A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✅</a:t>
            </a:r>
            <a:r>
              <a:rPr lang="ko" sz="1100" b="0" i="0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 내 코드에 특정 페이(삼성/카카오) 이름이 직접 들어가 있지는 않은가?</a:t>
            </a:r>
            <a:endParaRPr sz="1100" b="0" i="0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 b="0" i="0" u="none" strike="noStrike" cap="none">
                <a:solidFill>
                  <a:srgbClr val="60A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✅</a:t>
            </a:r>
            <a:r>
              <a:rPr lang="ko" sz="1100" b="0" i="0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 클래스 내부에서 new 를 써서 직접 객체를 만들고 있는가?</a:t>
            </a:r>
            <a:endParaRPr sz="1100" b="0" i="0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ko" sz="1100" b="0" i="0" u="none" strike="noStrike" cap="none">
                <a:solidFill>
                  <a:srgbClr val="60A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✅</a:t>
            </a:r>
            <a:r>
              <a:rPr lang="ko" sz="1100" b="0" i="0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기능 추가 시 기존 상위 코드를 고쳐야만 하는가?</a:t>
            </a:r>
            <a:endParaRPr sz="1100" b="0" i="0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467949" y="201372"/>
            <a:ext cx="609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ko" sz="2200" b="1" i="0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DIP 적용 효과 및 체크리스트</a:t>
            </a:r>
            <a:endParaRPr sz="2200" b="1" i="0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467943" y="540914"/>
            <a:ext cx="7218900" cy="768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2300"/>
              </a:spcAft>
              <a:buNone/>
            </a:pPr>
            <a:r>
              <a:rPr lang="ko" sz="1200" b="0" i="0" u="none" strike="noStrike" cap="none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변화에 유연하고 테스트에 강한 소프트웨어를 만드는 설계의 정석</a:t>
            </a:r>
            <a:endParaRPr sz="1300" b="0" i="0" u="none" strike="noStrike" cap="none">
              <a:solidFill>
                <a:srgbClr val="D7E0EC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4095750" y="1350977"/>
            <a:ext cx="952500" cy="1147571"/>
            <a:chOff x="4095761" y="1350977"/>
            <a:chExt cx="952500" cy="1147571"/>
          </a:xfrm>
        </p:grpSpPr>
        <p:sp>
          <p:nvSpPr>
            <p:cNvPr id="182" name="Google Shape;182;p7"/>
            <p:cNvSpPr txBox="1"/>
            <p:nvPr/>
          </p:nvSpPr>
          <p:spPr>
            <a:xfrm>
              <a:off x="4095761" y="2052148"/>
              <a:ext cx="9525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lang="ko" sz="1700" b="1" i="0" u="none" strike="noStrike" cap="none" dirty="0">
                  <a:solidFill>
                    <a:srgbClr val="F3E8F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효율성</a:t>
              </a:r>
              <a:endParaRPr sz="1100" b="0" i="0" u="none" strike="noStrike" cap="none" dirty="0">
                <a:solidFill>
                  <a:srgbClr val="94A3B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pic>
          <p:nvPicPr>
            <p:cNvPr id="192" name="Google Shape;192;p7" title="cloc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68077" y="1350977"/>
              <a:ext cx="607846" cy="6078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그룹 1"/>
          <p:cNvGrpSpPr/>
          <p:nvPr/>
        </p:nvGrpSpPr>
        <p:grpSpPr>
          <a:xfrm>
            <a:off x="950153" y="1350977"/>
            <a:ext cx="7261997" cy="1501571"/>
            <a:chOff x="950153" y="1350977"/>
            <a:chExt cx="7261997" cy="1501571"/>
          </a:xfrm>
        </p:grpSpPr>
        <p:sp>
          <p:nvSpPr>
            <p:cNvPr id="181" name="Google Shape;181;p7"/>
            <p:cNvSpPr txBox="1"/>
            <p:nvPr/>
          </p:nvSpPr>
          <p:spPr>
            <a:xfrm>
              <a:off x="1415603" y="2052148"/>
              <a:ext cx="1044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4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ko" sz="1700" b="1" i="0" u="none" strike="noStrike" cap="none" dirty="0">
                  <a:solidFill>
                    <a:srgbClr val="DBEAFE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유연성</a:t>
              </a:r>
              <a:endParaRPr sz="1300" b="1" i="0" u="none" strike="noStrike" cap="none" dirty="0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185" name="Google Shape;185;p7"/>
            <p:cNvSpPr txBox="1"/>
            <p:nvPr/>
          </p:nvSpPr>
          <p:spPr>
            <a:xfrm>
              <a:off x="950153" y="2498548"/>
              <a:ext cx="1975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" sz="1100" b="0" i="0" u="none" strike="noStrike" cap="none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플러그인처럼</a:t>
              </a:r>
              <a:r>
                <a:rPr lang="en-US" altLang="ko" sz="1100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/>
              </a:r>
              <a:br>
                <a:rPr lang="en-US" altLang="ko" sz="1100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" sz="1100" b="0" i="0" u="none" strike="noStrike" cap="none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자유로운 </a:t>
              </a:r>
              <a:r>
                <a:rPr lang="ko" sz="1100" b="0" i="0" u="none" strike="noStrike" cap="none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기능 교체</a:t>
              </a:r>
              <a:endParaRPr sz="1400" b="0" i="0" u="none" strike="noStrike" cap="none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pic>
          <p:nvPicPr>
            <p:cNvPr id="193" name="Google Shape;193;p7" title="flexibility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34128" y="1350977"/>
              <a:ext cx="607846" cy="6078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185;p7"/>
            <p:cNvSpPr txBox="1"/>
            <p:nvPr/>
          </p:nvSpPr>
          <p:spPr>
            <a:xfrm>
              <a:off x="3584100" y="2498548"/>
              <a:ext cx="1975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altLang="en-US" sz="1100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인터페이스 기반의</a:t>
              </a:r>
              <a:r>
                <a:rPr lang="en-US" altLang="ko" sz="1100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/>
              </a:r>
              <a:br>
                <a:rPr lang="en-US" altLang="ko" sz="1100" dirty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-KR" altLang="en-US" sz="1100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팀 간 병렬 개발 가능</a:t>
              </a:r>
              <a:endParaRPr sz="1400" b="0" i="0" u="none" strike="noStrike" cap="none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  <p:sp>
          <p:nvSpPr>
            <p:cNvPr id="23" name="Google Shape;185;p7"/>
            <p:cNvSpPr txBox="1"/>
            <p:nvPr/>
          </p:nvSpPr>
          <p:spPr>
            <a:xfrm>
              <a:off x="6236350" y="2498548"/>
              <a:ext cx="19758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ko-KR" altLang="en-US" sz="1100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실제</a:t>
              </a:r>
              <a:r>
                <a:rPr lang="en-US" altLang="ko-KR" sz="1100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API </a:t>
              </a:r>
              <a:r>
                <a:rPr lang="ko-KR" altLang="en-US" sz="1100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없이도</a:t>
              </a:r>
              <a:r>
                <a:rPr lang="en-US" altLang="ko-KR" sz="1100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/>
              </a:r>
              <a:br>
                <a:rPr lang="en-US" altLang="ko-KR" sz="1100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</a:br>
              <a:r>
                <a:rPr lang="ko-KR" altLang="en-US" sz="1100" dirty="0" smtClean="0">
                  <a:solidFill>
                    <a:srgbClr val="94A3B8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완벽한 독립 테스트</a:t>
              </a:r>
              <a:endParaRPr sz="1400" b="0" i="0" u="none" strike="noStrike" cap="none" dirty="0"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194" name="Google Shape;194;p7" title="stabili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0339" y="1350977"/>
            <a:ext cx="607846" cy="607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8" descr="파란색 아이콘과 선을 삭제해줘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63" y="0"/>
            <a:ext cx="91078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1214100" y="1860300"/>
            <a:ext cx="6715800" cy="14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 b="0" i="1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DIP는 단순히 코드를 분리하는 것이 아니라,</a:t>
            </a:r>
            <a:endParaRPr sz="1700" b="0" i="1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 b="1" i="1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무엇(What)'</a:t>
            </a:r>
            <a:r>
              <a:rPr lang="ko" sz="1700" b="0" i="1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 을 할지 정의하고</a:t>
            </a:r>
            <a:endParaRPr sz="1700" b="0" i="1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700" b="1" i="1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'어떻게(How)'</a:t>
            </a:r>
            <a:r>
              <a:rPr lang="ko" sz="1700" b="0" i="1" u="none" strike="noStrike" cap="none">
                <a:solidFill>
                  <a:srgbClr val="F1F5F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 할지는 나중으로 미루는 미학입니다.</a:t>
            </a:r>
            <a:endParaRPr sz="5400" b="1" i="1" u="none" strike="noStrike" cap="none">
              <a:solidFill>
                <a:srgbClr val="F1F5F9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1192</Words>
  <Application>Microsoft Office PowerPoint</Application>
  <PresentationFormat>화면 슬라이드 쇼(16:9)</PresentationFormat>
  <Paragraphs>173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굴림</vt:lpstr>
      <vt:lpstr>Arial</vt:lpstr>
      <vt:lpstr>Courier New</vt:lpstr>
      <vt:lpstr>Roboto Mono</vt:lpstr>
      <vt:lpstr>나눔스퀘어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koo</cp:lastModifiedBy>
  <cp:revision>38</cp:revision>
  <dcterms:modified xsi:type="dcterms:W3CDTF">2026-02-27T04:55:13Z</dcterms:modified>
</cp:coreProperties>
</file>