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Noto Sans KR"/>
      <p:regular r:id="rId27"/>
      <p:bold r:id="rId28"/>
    </p:embeddedFont>
    <p:embeddedFont>
      <p:font typeface="Noto Sans"/>
      <p:regular r:id="rId29"/>
      <p:bold r:id="rId30"/>
      <p:italic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Google Sans"/>
      <p:regular r:id="rId37"/>
      <p:bold r:id="rId38"/>
      <p:italic r:id="rId39"/>
      <p:boldItalic r:id="rId40"/>
    </p:embeddedFont>
    <p:embeddedFont>
      <p:font typeface="Noto Sans Black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79717C-ECC4-434E-A90A-527D03A8F232}">
  <a:tblStyle styleId="{4679717C-ECC4-434E-A90A-527D03A8F2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528119A-89B3-4336-829B-DC3AE680824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ogleSans-boldItalic.fntdata"/><Relationship Id="rId20" Type="http://schemas.openxmlformats.org/officeDocument/2006/relationships/slide" Target="slides/slide14.xml"/><Relationship Id="rId42" Type="http://schemas.openxmlformats.org/officeDocument/2006/relationships/font" Target="fonts/NotoSansBlack-boldItalic.fntdata"/><Relationship Id="rId41" Type="http://schemas.openxmlformats.org/officeDocument/2006/relationships/font" Target="fonts/NotoSansBlack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otoSansKR-bold.fntdata"/><Relationship Id="rId27" Type="http://schemas.openxmlformats.org/officeDocument/2006/relationships/font" Target="fonts/NotoSansK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oto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otoSans-italic.fntdata"/><Relationship Id="rId30" Type="http://schemas.openxmlformats.org/officeDocument/2006/relationships/font" Target="fonts/NotoSans-bold.fntdata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font" Target="fonts/NotoSans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37" Type="http://schemas.openxmlformats.org/officeDocument/2006/relationships/font" Target="fonts/GoogleSans-regular.fntdata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39" Type="http://schemas.openxmlformats.org/officeDocument/2006/relationships/font" Target="fonts/GoogleSans-italic.fntdata"/><Relationship Id="rId16" Type="http://schemas.openxmlformats.org/officeDocument/2006/relationships/slide" Target="slides/slide10.xml"/><Relationship Id="rId38" Type="http://schemas.openxmlformats.org/officeDocument/2006/relationships/font" Target="fonts/Google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“안녕하세요. 저희는 5조 </a:t>
            </a:r>
            <a:r>
              <a:rPr b="1" lang="en-US">
                <a:solidFill>
                  <a:schemeClr val="dk1"/>
                </a:solidFill>
              </a:rPr>
              <a:t>Tricycle</a:t>
            </a:r>
            <a:r>
              <a:rPr lang="en-US">
                <a:solidFill>
                  <a:schemeClr val="dk1"/>
                </a:solidFill>
              </a:rPr>
              <a:t>이고, 팀원은 </a:t>
            </a:r>
            <a:r>
              <a:rPr b="1" lang="en-US">
                <a:solidFill>
                  <a:schemeClr val="dk1"/>
                </a:solidFill>
              </a:rPr>
              <a:t>구도연, 고영진, 신민서</a:t>
            </a:r>
            <a:r>
              <a:rPr lang="en-US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저희 조 이름은..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저희가 준비한 프로젝트는 </a:t>
            </a:r>
            <a:r>
              <a:rPr b="1" lang="en-US">
                <a:solidFill>
                  <a:schemeClr val="dk1"/>
                </a:solidFill>
              </a:rPr>
              <a:t>Java 기반 카페 키오스크 서비스</a:t>
            </a:r>
            <a:r>
              <a:rPr lang="en-US">
                <a:solidFill>
                  <a:schemeClr val="dk1"/>
                </a:solidFill>
              </a:rPr>
              <a:t>예요.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 프로젝트는 카페 이용 고객에게는 더 빠르고 편리한 주문 경험을 제공하고,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관리자에게는 고객 관리와 매출 분석 기능을 제공하는 것을 목표로 하고 있어요.”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“저희 프로젝트는 커피를 많이 소비하는 </a:t>
            </a:r>
            <a:r>
              <a:rPr b="1" lang="en-US">
                <a:solidFill>
                  <a:schemeClr val="dk1"/>
                </a:solidFill>
              </a:rPr>
              <a:t>2030 사용자층</a:t>
            </a:r>
            <a:r>
              <a:rPr lang="en-US">
                <a:solidFill>
                  <a:schemeClr val="dk1"/>
                </a:solidFill>
              </a:rPr>
              <a:t>을 주요 타겟으로 설정했어요.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또한 커피 외에도 다양한 메뉴를 판매하는 </a:t>
            </a:r>
            <a:r>
              <a:rPr b="1" lang="en-US">
                <a:solidFill>
                  <a:schemeClr val="dk1"/>
                </a:solidFill>
              </a:rPr>
              <a:t>메가커피</a:t>
            </a:r>
            <a:r>
              <a:rPr lang="en-US">
                <a:solidFill>
                  <a:schemeClr val="dk1"/>
                </a:solidFill>
              </a:rPr>
              <a:t>를 벤치마킹해서 프로젝트를 기획했어요.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최근 카페에서는 단순히 음료를 판매하는 것뿐 아니라,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고객이 얼마나 빠르고 편하게 주문할 수 있는지도 중요한 경쟁력이라고 생각했어요.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그래서 저희는 고객에게는 더 신속한 주문 프로세스를 제공하고,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관리자에게는 고객 관리와 정밀한 매출 통계 기능을 제공하는 키오스크 서비스를 만들고자 했어요.”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“먼저 고객 관점에서 보면,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이 프로젝트는 불필요한 주문 단계를 줄여서 더 간편하게 주문하고 결제할 수 있도록 하는 데 의미가 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기존 키오스크는 메뉴 선택, 옵션 선택, 회원 인증, 결제까지 단계가 길어질수록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사용자가 불편함을 느끼기 쉬워요.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저희는 이런 문제를 줄이기 위해 주문 과정을 최대한 단순화하고,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회원의 경우에는 최근 주문 내역을 활용한 </a:t>
            </a:r>
            <a:r>
              <a:rPr b="1" lang="en-US">
                <a:solidFill>
                  <a:schemeClr val="dk1"/>
                </a:solidFill>
              </a:rPr>
              <a:t>퀵오더 기능</a:t>
            </a:r>
            <a:r>
              <a:rPr lang="en-US">
                <a:solidFill>
                  <a:schemeClr val="dk1"/>
                </a:solidFill>
              </a:rPr>
              <a:t>도 넣어서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더 빠르게 주문할 수 있도록 설계했어요.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이렇게 해서 고객 입장에서는 주문 시간이 줄어들고,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전체적인 사용자 경험도 더 좋아질 것으로 기대하고 있어요.”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d197d0b40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“다음으로 관리자 관점에서 보면,</a:t>
            </a:r>
            <a:br>
              <a:rPr lang="en-US"/>
            </a:br>
            <a:r>
              <a:rPr lang="en-US"/>
              <a:t> 이 시스템은 단순히 주문을 받는 기능에서 끝나는 것이 아니라</a:t>
            </a:r>
            <a:br>
              <a:rPr lang="en-US"/>
            </a:br>
            <a:r>
              <a:rPr lang="en-US"/>
              <a:t> 매장 운영에 필요한 데이터도 함께 제공한다는 점이 중요해요.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관리자는 매출 집계 기능을 통해</a:t>
            </a:r>
            <a:br>
              <a:rPr lang="en-US"/>
            </a:br>
            <a:r>
              <a:rPr lang="en-US"/>
              <a:t> 일별, 주별, 월별 판매량을 확인할 수 있고,</a:t>
            </a:r>
            <a:br>
              <a:rPr lang="en-US"/>
            </a:br>
            <a:r>
              <a:rPr lang="en-US"/>
              <a:t> 어떤 메뉴가 많이 팔리는지도 분석할 수 있어요.</a:t>
            </a:r>
            <a:br>
              <a:rPr lang="en-US"/>
            </a:br>
            <a:r>
              <a:rPr lang="en-US"/>
              <a:t> 이런 데이터는 아르바이트 직원 배치나 재고 관리,</a:t>
            </a:r>
            <a:br>
              <a:rPr lang="en-US"/>
            </a:br>
            <a:r>
              <a:rPr lang="en-US"/>
              <a:t> 그리고 고객 맞춤형 프로모션 기획에도 활용할 수 있어요.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즉, 이 프로젝트는 고객 편의성뿐 아니라</a:t>
            </a:r>
            <a:br>
              <a:rPr lang="en-US"/>
            </a:br>
            <a:r>
              <a:rPr lang="en-US"/>
              <a:t> 관리자의 운영 효율까지 높일 수 있는 시스템이라고 볼 수 있어요.”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cd197d0b40_1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“프로젝트 일정은 </a:t>
            </a:r>
            <a:r>
              <a:rPr b="1" lang="en-US">
                <a:solidFill>
                  <a:schemeClr val="dk1"/>
                </a:solidFill>
              </a:rPr>
              <a:t>분석, 설계, 개발, 테스트</a:t>
            </a:r>
            <a:r>
              <a:rPr lang="en-US">
                <a:solidFill>
                  <a:schemeClr val="dk1"/>
                </a:solidFill>
              </a:rPr>
              <a:t>의 4단계로 진행할 예정이에요.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먼저 분석 단계에서는 사용자 요구사항을 정리하고 유즈케이스를 정의해요.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그다음 설계 단계에서는 </a:t>
            </a:r>
            <a:r>
              <a:rPr b="1" lang="en-US">
                <a:solidFill>
                  <a:schemeClr val="dk1"/>
                </a:solidFill>
              </a:rPr>
              <a:t>MySQL 기반 데이터베이스 모델링</a:t>
            </a:r>
            <a:r>
              <a:rPr lang="en-US">
                <a:solidFill>
                  <a:schemeClr val="dk1"/>
                </a:solidFill>
              </a:rPr>
              <a:t>과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MVC 구조 설계</a:t>
            </a:r>
            <a:r>
              <a:rPr lang="en-US">
                <a:solidFill>
                  <a:schemeClr val="dk1"/>
                </a:solidFill>
              </a:rPr>
              <a:t>를 진행해요.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이후 개발 단계에서는 고객 기능과 관리자 기능을 구현하고,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마지막 테스트 단계에서는 예외 상황과 전체 동작을 점검하면서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최종 발표를 준비할 예정이에요.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최종 목표는 </a:t>
            </a:r>
            <a:r>
              <a:rPr b="1" lang="en-US">
                <a:solidFill>
                  <a:schemeClr val="dk1"/>
                </a:solidFill>
              </a:rPr>
              <a:t>3월 20일 금요일 발표까지 핵심 기능이 실제로 동작하는 형태로 프로젝트를 완성하는 것</a:t>
            </a:r>
            <a:r>
              <a:rPr lang="en-US">
                <a:solidFill>
                  <a:schemeClr val="dk1"/>
                </a:solidFill>
              </a:rPr>
              <a:t>이에요.”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d197d0b40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“개발환경은 다음과 같이 구성했어요.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언어는 </a:t>
            </a:r>
            <a:r>
              <a:rPr b="1" lang="en-US">
                <a:solidFill>
                  <a:schemeClr val="dk1"/>
                </a:solidFill>
              </a:rPr>
              <a:t>Java 17</a:t>
            </a:r>
            <a:r>
              <a:rPr lang="en-US">
                <a:solidFill>
                  <a:schemeClr val="dk1"/>
                </a:solidFill>
              </a:rPr>
              <a:t>을 사용하고,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개발 도구는 </a:t>
            </a:r>
            <a:r>
              <a:rPr b="1" lang="en-US">
                <a:solidFill>
                  <a:schemeClr val="dk1"/>
                </a:solidFill>
              </a:rPr>
              <a:t>Eclipse IDE</a:t>
            </a:r>
            <a:r>
              <a:rPr lang="en-US">
                <a:solidFill>
                  <a:schemeClr val="dk1"/>
                </a:solidFill>
              </a:rPr>
              <a:t>를 사용할 예정이에요.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아키텍처는 역할 분리를 위해 </a:t>
            </a:r>
            <a:r>
              <a:rPr b="1" lang="en-US">
                <a:solidFill>
                  <a:schemeClr val="dk1"/>
                </a:solidFill>
              </a:rPr>
              <a:t>MVC 패턴</a:t>
            </a:r>
            <a:r>
              <a:rPr lang="en-US">
                <a:solidFill>
                  <a:schemeClr val="dk1"/>
                </a:solidFill>
              </a:rPr>
              <a:t>으로 설계하고,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데이터베이스는 </a:t>
            </a:r>
            <a:r>
              <a:rPr b="1" lang="en-US">
                <a:solidFill>
                  <a:schemeClr val="dk1"/>
                </a:solidFill>
              </a:rPr>
              <a:t>MySQL 8.0</a:t>
            </a:r>
            <a:r>
              <a:rPr lang="en-US">
                <a:solidFill>
                  <a:schemeClr val="dk1"/>
                </a:solidFill>
              </a:rPr>
              <a:t>과 </a:t>
            </a:r>
            <a:r>
              <a:rPr b="1" lang="en-US">
                <a:solidFill>
                  <a:schemeClr val="dk1"/>
                </a:solidFill>
              </a:rPr>
              <a:t>Amazon RDS</a:t>
            </a:r>
            <a:r>
              <a:rPr lang="en-US">
                <a:solidFill>
                  <a:schemeClr val="dk1"/>
                </a:solidFill>
              </a:rPr>
              <a:t>를 사용할 계획이에요.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또한 형상 관리는 </a:t>
            </a:r>
            <a:r>
              <a:rPr b="1" lang="en-US">
                <a:solidFill>
                  <a:schemeClr val="dk1"/>
                </a:solidFill>
              </a:rPr>
              <a:t>GitHub</a:t>
            </a:r>
            <a:r>
              <a:rPr lang="en-US">
                <a:solidFill>
                  <a:schemeClr val="dk1"/>
                </a:solidFill>
              </a:rPr>
              <a:t>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협업과 문서 정리는 </a:t>
            </a:r>
            <a:r>
              <a:rPr b="1" lang="en-US">
                <a:solidFill>
                  <a:schemeClr val="dk1"/>
                </a:solidFill>
              </a:rPr>
              <a:t>Notion</a:t>
            </a:r>
            <a:r>
              <a:rPr lang="en-US">
                <a:solidFill>
                  <a:schemeClr val="dk1"/>
                </a:solidFill>
              </a:rPr>
              <a:t>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DB 설계는 </a:t>
            </a:r>
            <a:r>
              <a:rPr b="1" lang="en-US">
                <a:solidFill>
                  <a:schemeClr val="dk1"/>
                </a:solidFill>
              </a:rPr>
              <a:t>DBdiagram</a:t>
            </a:r>
            <a:r>
              <a:rPr lang="en-US">
                <a:solidFill>
                  <a:schemeClr val="dk1"/>
                </a:solidFill>
              </a:rPr>
              <a:t>을 활용할 예정이에요.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이런 개발환경을 통해 기능 구현뿐 아니라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협업과 유지보수까지 고려한 프로젝트를 진행하고자 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cd197d0b40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시스템 액터는 다음 세가지 분류로 정의했습니다.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비회원은 메뉴조회 및 주문등의 기능을 이용할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회원은 비회원 기능에 더불어, 퀵오더 등의 추가 기능이 제공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관리자는 매뉴 관리, 매출 통계 조회 등을 할 수있습니다.</a:t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유즈 케이스 다이어그램은 이렇게 구성하였습니다.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다음으로 각 액터별 상세 기능을 소개하겠습니다.</a:t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d197d0b40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먼저 비회원은 메뉴를 카테고리별로 조회하고,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사이즈나 온도, 카페인 유무 같은 옵션을 선택한 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장바구니와 결제 기능을 사용할 수 있습니다.</a:t>
            </a:r>
            <a:endParaRPr/>
          </a:p>
        </p:txBody>
      </p:sp>
      <p:sp>
        <p:nvSpPr>
          <p:cNvPr id="197" name="Google Shape;197;g3cd197d0b40_1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회원은 전화번호 기반으로 간편 가입과 로그인을 할 수 있고,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퀵오더, 전자 영수증, 포인트 적립 및 사용 기능을 이용할 수 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특히 최근 주문을 바로 불러오는 퀵오더 기능을 통해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더 빠른 주문 경험을 제공하는 것이 핵심이에요.</a:t>
            </a:r>
            <a:endParaRPr/>
          </a:p>
        </p:txBody>
      </p:sp>
      <p:sp>
        <p:nvSpPr>
          <p:cNvPr id="214" name="Google Shape;2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관리자는 메뉴 등록, 조회, 수정, 삭제 같은 CRUD 기능과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주문 내역 관리, 회원 목록 조회, 매출 통계 분석 기능을 사용할 수 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이를 통해 판매 데이터를 기반으로 더 효율적인 운영이 가능하도록 했어요.</a:t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5329099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c5329099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5329099d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c5329099d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5329099d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c5329099d9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5329099d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5329099d9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5329099d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c5329099d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d197d0b4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cd197d0b40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11" Type="http://schemas.openxmlformats.org/officeDocument/2006/relationships/image" Target="../media/image25.png"/><Relationship Id="rId10" Type="http://schemas.openxmlformats.org/officeDocument/2006/relationships/image" Target="../media/image35.png"/><Relationship Id="rId9" Type="http://schemas.openxmlformats.org/officeDocument/2006/relationships/image" Target="../media/image3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7.jp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24.png"/><Relationship Id="rId7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2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36.png"/><Relationship Id="rId5" Type="http://schemas.openxmlformats.org/officeDocument/2006/relationships/image" Target="../media/image47.png"/><Relationship Id="rId6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5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image" Target="../media/image54.png"/><Relationship Id="rId6" Type="http://schemas.openxmlformats.org/officeDocument/2006/relationships/image" Target="../media/image43.png"/><Relationship Id="rId7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58.png"/><Relationship Id="rId5" Type="http://schemas.openxmlformats.org/officeDocument/2006/relationships/image" Target="../media/image46.png"/><Relationship Id="rId6" Type="http://schemas.openxmlformats.org/officeDocument/2006/relationships/image" Target="../media/image5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50.png"/><Relationship Id="rId5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55.png"/><Relationship Id="rId7" Type="http://schemas.openxmlformats.org/officeDocument/2006/relationships/image" Target="../media/image41.png"/><Relationship Id="rId8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472975" y="5692071"/>
            <a:ext cx="11049000" cy="261600"/>
            <a:chOff x="571500" y="4991373"/>
            <a:chExt cx="11049000" cy="261600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571500" y="4991373"/>
              <a:ext cx="11049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48225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700" u="none" cap="none" strike="noStrike">
                  <a:solidFill>
                    <a:srgbClr val="1E3A8A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5조(</a:t>
              </a:r>
              <a:r>
                <a:rPr lang="en-US" sz="1700">
                  <a:solidFill>
                    <a:srgbClr val="1E3A8A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Tricycle)</a:t>
              </a:r>
              <a:r>
                <a:rPr i="0" lang="en-US" sz="1700" u="none" cap="none" strike="noStrike">
                  <a:solidFill>
                    <a:srgbClr val="1E3A8A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: 구도연, 고영진, 신민서</a:t>
              </a:r>
              <a:endParaRPr sz="1600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image.png" id="87" name="Google Shape;8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05462" y="5006661"/>
              <a:ext cx="304747" cy="23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13"/>
          <p:cNvGrpSpPr/>
          <p:nvPr/>
        </p:nvGrpSpPr>
        <p:grpSpPr>
          <a:xfrm>
            <a:off x="295125" y="3634882"/>
            <a:ext cx="11601600" cy="1053020"/>
            <a:chOff x="295200" y="2430586"/>
            <a:chExt cx="11601600" cy="1053020"/>
          </a:xfrm>
        </p:grpSpPr>
        <p:sp>
          <p:nvSpPr>
            <p:cNvPr id="89" name="Google Shape;89;p13"/>
            <p:cNvSpPr txBox="1"/>
            <p:nvPr/>
          </p:nvSpPr>
          <p:spPr>
            <a:xfrm>
              <a:off x="295200" y="2430586"/>
              <a:ext cx="116016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4100" u="none" cap="none" strike="noStrike">
                  <a:solidFill>
                    <a:srgbClr val="1E3A8A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Java 기반 카페 키오스크 서비스</a:t>
              </a:r>
              <a:endParaRPr sz="100"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571500" y="3237306"/>
              <a:ext cx="11049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 서비스 제공 및 관리자 매출 분석 </a:t>
              </a:r>
              <a:r>
                <a:rPr i="0" lang="en-US" sz="160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스마트 키오스크 시스템 설계</a:t>
              </a:r>
              <a:endParaRPr sz="900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pic>
        <p:nvPicPr>
          <p:cNvPr id="91" name="Google Shape;9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0325" y="722534"/>
            <a:ext cx="2474299" cy="247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763850" y="1198750"/>
            <a:ext cx="2305225" cy="23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4"/>
          <p:cNvGrpSpPr/>
          <p:nvPr/>
        </p:nvGrpSpPr>
        <p:grpSpPr>
          <a:xfrm>
            <a:off x="295200" y="2374616"/>
            <a:ext cx="11601600" cy="2551859"/>
            <a:chOff x="295275" y="2420391"/>
            <a:chExt cx="11601600" cy="2551859"/>
          </a:xfrm>
        </p:grpSpPr>
        <p:sp>
          <p:nvSpPr>
            <p:cNvPr id="99" name="Google Shape;99;p14"/>
            <p:cNvSpPr/>
            <p:nvPr/>
          </p:nvSpPr>
          <p:spPr>
            <a:xfrm>
              <a:off x="5619750" y="3363366"/>
              <a:ext cx="952500" cy="57150"/>
            </a:xfrm>
            <a:prstGeom prst="rect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295275" y="2420391"/>
              <a:ext cx="116016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1E3A8A"/>
                  </a:solidFill>
                  <a:latin typeface="Poppins"/>
                  <a:ea typeface="Poppins"/>
                  <a:cs typeface="Poppins"/>
                  <a:sym typeface="Poppins"/>
                </a:rPr>
                <a:t>PROJECT OVERVIEW</a:t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646025" y="3808850"/>
              <a:ext cx="1062000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커피를 많이 소비하는 2030 사용자를 타겟으로 설정, 커피 이외에도 다양한 메뉴를 판매하는</a:t>
              </a:r>
              <a:endParaRPr sz="180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메가커피를 벤치마킹하여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, 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고객(회원/비회원) 서비스 제공을 위한 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신속한 주문 프로세스를 구축하고,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관리자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에게는 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 관리 및 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정밀한 매출 통계 기능을 제공하는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효율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적인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비즈니스 솔루션입니다.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5"/>
          <p:cNvGrpSpPr/>
          <p:nvPr/>
        </p:nvGrpSpPr>
        <p:grpSpPr>
          <a:xfrm>
            <a:off x="1112359" y="2570412"/>
            <a:ext cx="4210233" cy="1717188"/>
            <a:chOff x="1027509" y="3022475"/>
            <a:chExt cx="4210233" cy="1717188"/>
          </a:xfrm>
        </p:grpSpPr>
        <p:sp>
          <p:nvSpPr>
            <p:cNvPr id="108" name="Google Shape;108;p15"/>
            <p:cNvSpPr txBox="1"/>
            <p:nvPr/>
          </p:nvSpPr>
          <p:spPr>
            <a:xfrm>
              <a:off x="1027509" y="3033712"/>
              <a:ext cx="1498800" cy="16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0" u="none" cap="none" strike="noStrike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</a:t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1027509" y="4462462"/>
              <a:ext cx="1498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현재 주문 단계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image.png" id="110" name="Google Shape;11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6231" y="3494462"/>
              <a:ext cx="592782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5"/>
            <p:cNvSpPr txBox="1"/>
            <p:nvPr/>
          </p:nvSpPr>
          <p:spPr>
            <a:xfrm>
              <a:off x="3738942" y="3022474"/>
              <a:ext cx="1498800" cy="16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0" u="none" cap="none" strike="noStrike">
                  <a:solidFill>
                    <a:srgbClr val="FACC1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3738942" y="4451225"/>
              <a:ext cx="1498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목표 주문 단계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13" name="Google Shape;113;p1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핵심 목</a:t>
            </a: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표 및 기대효과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6204628" y="2839146"/>
            <a:ext cx="4984516" cy="1376779"/>
            <a:chOff x="6511178" y="3234446"/>
            <a:chExt cx="4984516" cy="1376779"/>
          </a:xfrm>
        </p:grpSpPr>
        <p:sp>
          <p:nvSpPr>
            <p:cNvPr id="116" name="Google Shape;116;p15"/>
            <p:cNvSpPr txBox="1"/>
            <p:nvPr/>
          </p:nvSpPr>
          <p:spPr>
            <a:xfrm>
              <a:off x="6511178" y="3234446"/>
              <a:ext cx="40005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4">
                  <a:latin typeface="Noto Sans"/>
                  <a:ea typeface="Noto Sans"/>
                  <a:cs typeface="Noto Sans"/>
                  <a:sym typeface="Noto Sans"/>
                </a:rPr>
                <a:t>주요 고객층</a:t>
              </a:r>
              <a:r>
                <a:rPr b="1" i="0" lang="en-US" sz="1904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타겟팅 전략</a:t>
              </a:r>
              <a:endParaRPr b="1" sz="1900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6511194" y="3779925"/>
              <a:ext cx="49845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고객의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불필요한 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입력 단계를 제거하고 '전화번호 + 비밀번호' 기반의 간편 인증 및 최근 주문 내역 기반 퀵오더를 통해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,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 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단계 Depth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를 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최소화하도록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구현합니다.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핵심 목표 및 기대효과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5748337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i="1" lang="en-US" sz="13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메뉴</a:t>
            </a: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별/요일별 매출 추이를 통해</a:t>
            </a:r>
            <a:r>
              <a:rPr i="1" lang="en-US" sz="13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판매량을 </a:t>
            </a: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분석하고 </a:t>
            </a:r>
            <a:r>
              <a:rPr i="1" lang="en-US" sz="13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고객 </a:t>
            </a: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맞춤형 프로모션을 기획할 수 있습니다."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752358" y="3714772"/>
            <a:ext cx="857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500, 000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726782" y="1917534"/>
            <a:ext cx="4404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&lt;03월 2주차_아메리카노 판매 금액 통계&gt;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52358" y="2707520"/>
            <a:ext cx="857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1,0</a:t>
            </a:r>
            <a:r>
              <a:rPr lang="en-US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00, 000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571500" y="4418654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프로젝트 개발 </a:t>
            </a: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프로세스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17"/>
          <p:cNvGrpSpPr/>
          <p:nvPr/>
        </p:nvGrpSpPr>
        <p:grpSpPr>
          <a:xfrm>
            <a:off x="571650" y="2958230"/>
            <a:ext cx="11048701" cy="1133475"/>
            <a:chOff x="571500" y="3372069"/>
            <a:chExt cx="11048701" cy="1133475"/>
          </a:xfrm>
        </p:grpSpPr>
        <p:pic>
          <p:nvPicPr>
            <p:cNvPr descr="image.png" id="139" name="Google Shape;13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0" name="Google Shape;140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44180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1" name="Google Shape;14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16860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2" name="Google Shape;142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89541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7"/>
            <p:cNvSpPr txBox="1"/>
            <p:nvPr/>
          </p:nvSpPr>
          <p:spPr>
            <a:xfrm>
              <a:off x="730760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1: 분석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781050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사용자 </a:t>
              </a: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요구사항 정의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유즈케이스 설계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3603441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2: 설계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3653730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MySQL 모델링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MVC 패턴 구조화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6476121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3: 개발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6526410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고객/관리자 별 </a:t>
              </a: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기능 구현 및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콘솔 기반 화면 구성/설계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9348802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4: 테스트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9399091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예외 로직 점검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최종 산출물 및 서비스 제공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개발 환경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8" title="다운로드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30100" y="5601000"/>
            <a:ext cx="450550" cy="4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9818" y="2528427"/>
            <a:ext cx="273075" cy="4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48695" y="4390050"/>
            <a:ext cx="593100" cy="4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88700" y="4316651"/>
            <a:ext cx="593100" cy="528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다운로드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67589" y="3116020"/>
            <a:ext cx="525965" cy="5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8042" y="4926969"/>
            <a:ext cx="450550" cy="45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title="다운로드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92087" y="5568032"/>
            <a:ext cx="365883" cy="37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 rotWithShape="1">
          <a:blip r:embed="rId10">
            <a:alphaModFix/>
          </a:blip>
          <a:srcRect b="0" l="0" r="68465" t="0"/>
          <a:stretch/>
        </p:blipFill>
        <p:spPr>
          <a:xfrm>
            <a:off x="8366476" y="5416400"/>
            <a:ext cx="643950" cy="6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49350" y="3693909"/>
            <a:ext cx="899052" cy="5619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18"/>
          <p:cNvGraphicFramePr/>
          <p:nvPr/>
        </p:nvGraphicFramePr>
        <p:xfrm>
          <a:off x="1103075" y="188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{4679717C-ECC4-434E-A90A-527D03A8F232}</a:tableStyleId>
              </a:tblPr>
              <a:tblGrid>
                <a:gridCol w="5143500"/>
                <a:gridCol w="5143500"/>
              </a:tblGrid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구분</a:t>
                      </a:r>
                      <a:endParaRPr b="1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기술</a:t>
                      </a:r>
                      <a:endParaRPr b="1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언어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Java 17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개발 도구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Eclipse IDE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아키텍처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MVC 패턴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DB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MySQL 8.0, Amazon RDS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형상 관리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GitHub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협업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Notion, DBdiagram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0483"/>
            <a:ext cx="348615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440483"/>
            <a:ext cx="350520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4350" y="2440483"/>
            <a:ext cx="348615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05038"/>
            <a:ext cx="346640" cy="40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905038"/>
            <a:ext cx="503450" cy="404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875" y="2905013"/>
            <a:ext cx="503450" cy="40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시스템 액터(ACTOR) 정의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962025" y="3545383"/>
            <a:ext cx="28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비회원 (General)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962025" y="4012108"/>
            <a:ext cx="2705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75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메뉴 카테고리 조회, 상세 옵션 선택, 장바구니 관리 및 일반 결제를 수행하는 기본 액터입니다.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4743450" y="3554908"/>
            <a:ext cx="28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회원 (Member)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743450" y="4021633"/>
            <a:ext cx="2705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75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전화번호 기반 간편 가입, 포인트 적립 및 사용, 과거 주문 이력 조회 및 퀵오더 기능을 활용합니다.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8524875" y="3545383"/>
            <a:ext cx="28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관리자 (Admin)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8524875" y="4012108"/>
            <a:ext cx="2705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75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메뉴 CRUD 관리, 매출 통계 분석, 주문 취소 및 회원 목록 조회를 담당하는 시스템 마스터입니다.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7362"/>
            <a:ext cx="1524744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카페 키오스크 </a:t>
            </a: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유즈케이스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6688" y="1162783"/>
            <a:ext cx="7892126" cy="560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비회원: 주문 프로세스 유즈케이스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21"/>
          <p:cNvGrpSpPr/>
          <p:nvPr/>
        </p:nvGrpSpPr>
        <p:grpSpPr>
          <a:xfrm>
            <a:off x="729978" y="2928937"/>
            <a:ext cx="5324881" cy="1825725"/>
            <a:chOff x="729978" y="2928937"/>
            <a:chExt cx="5324881" cy="1825725"/>
          </a:xfrm>
        </p:grpSpPr>
        <p:pic>
          <p:nvPicPr>
            <p:cNvPr descr="image.png" id="203" name="Google Shape;20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0926" y="293216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4" name="Google Shape;20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0926" y="346346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5" name="Google Shape;205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9978" y="4011150"/>
              <a:ext cx="236875" cy="217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6" name="Google Shape;206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0928" y="4529128"/>
              <a:ext cx="236875" cy="2179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 txBox="1"/>
            <p:nvPr/>
          </p:nvSpPr>
          <p:spPr>
            <a:xfrm>
              <a:off x="1074559" y="292893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메뉴 조회: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카테고리별 최대 5개 메뉴 노출</a:t>
              </a:r>
              <a:endParaRPr/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1074559" y="345281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옵션 선택: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사이즈, 온도, 카페인 유무 커스텀</a:t>
              </a:r>
              <a:endParaRPr/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1074559" y="397668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장바구니: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실시간 수량 수정 및 항목 삭제</a:t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1074559" y="450056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결제하기: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최종 금액 확인 후 주문 승인</a:t>
              </a:r>
              <a:endParaRPr/>
            </a:p>
          </p:txBody>
        </p:sp>
      </p:grpSp>
      <p:pic>
        <p:nvPicPr>
          <p:cNvPr id="211" name="Google Shape;211;p21" title="스크린샷_5-3-2026_195142_.jpeg"/>
          <p:cNvPicPr preferRelativeResize="0"/>
          <p:nvPr/>
        </p:nvPicPr>
        <p:blipFill rotWithShape="1">
          <a:blip r:embed="rId8">
            <a:alphaModFix/>
          </a:blip>
          <a:srcRect b="69347" l="4759" r="7768" t="7346"/>
          <a:stretch/>
        </p:blipFill>
        <p:spPr>
          <a:xfrm>
            <a:off x="5222302" y="2985744"/>
            <a:ext cx="6684233" cy="17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회원: 개인화 및 퀵오더 유즈케이스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22"/>
          <p:cNvGrpSpPr/>
          <p:nvPr/>
        </p:nvGrpSpPr>
        <p:grpSpPr>
          <a:xfrm>
            <a:off x="6788937" y="2700337"/>
            <a:ext cx="5577513" cy="2143125"/>
            <a:chOff x="6307213" y="2700337"/>
            <a:chExt cx="5577513" cy="2143125"/>
          </a:xfrm>
        </p:grpSpPr>
        <p:pic>
          <p:nvPicPr>
            <p:cNvPr descr="image.png" id="220" name="Google Shape;22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23363" y="3529012"/>
              <a:ext cx="20458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21" name="Google Shape;221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34138" y="4062412"/>
              <a:ext cx="183046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22" name="Google Shape;222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07213" y="459581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2"/>
            <p:cNvSpPr txBox="1"/>
            <p:nvPr/>
          </p:nvSpPr>
          <p:spPr>
            <a:xfrm>
              <a:off x="6334125" y="2700337"/>
              <a:ext cx="55506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4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회원 전용 편의 기능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6334125" y="3138487"/>
              <a:ext cx="5286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단 2번의 터치로 완료되는 주문 경험을 제공합니다.</a:t>
              </a:r>
              <a:endParaRPr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6640115" y="352901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퀵오더: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최근 주문 이력을 불러와 즉시 주문</a:t>
              </a:r>
              <a:endParaRPr/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6640115" y="405288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전자 영수증: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과거 주문 이력 실시간 조회</a:t>
              </a:r>
              <a:endParaRPr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6640115" y="457676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포인트 관리: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구매 시 자동 적립 및 결제 시 사용</a:t>
              </a:r>
              <a:endParaRPr/>
            </a:p>
          </p:txBody>
        </p:sp>
      </p:grpSp>
      <p:pic>
        <p:nvPicPr>
          <p:cNvPr id="228" name="Google Shape;228;p22" title="스크린샷_5-3-2026_195142_.jpeg"/>
          <p:cNvPicPr preferRelativeResize="0"/>
          <p:nvPr/>
        </p:nvPicPr>
        <p:blipFill rotWithShape="1">
          <a:blip r:embed="rId7">
            <a:alphaModFix/>
          </a:blip>
          <a:srcRect b="39973" l="4303" r="6235" t="30493"/>
          <a:stretch/>
        </p:blipFill>
        <p:spPr>
          <a:xfrm>
            <a:off x="142319" y="2759175"/>
            <a:ext cx="6382850" cy="202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396328" y="2276447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</a:t>
            </a:r>
            <a:r>
              <a:rPr b="1" lang="en-US" sz="1404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</a:t>
            </a:r>
            <a:r>
              <a:rPr b="1" i="0" lang="en-US" sz="1404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매장 운영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396328" y="2714597"/>
            <a:ext cx="4953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점주는 키오스크의 관리자 모드를 통해 </a:t>
            </a:r>
            <a:r>
              <a:rPr lang="en-US" sz="1350">
                <a:latin typeface="Noto Sans KR"/>
                <a:ea typeface="Noto Sans KR"/>
                <a:cs typeface="Noto Sans KR"/>
                <a:sym typeface="Noto Sans KR"/>
              </a:rPr>
              <a:t>메뉴 등록/조회/수정/삭제를</a:t>
            </a: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 진행할 수 있습니다. </a:t>
            </a:r>
            <a:r>
              <a:rPr lang="en-US" sz="1350">
                <a:latin typeface="Noto Sans KR"/>
                <a:ea typeface="Noto Sans KR"/>
                <a:cs typeface="Noto Sans KR"/>
                <a:sym typeface="Noto Sans KR"/>
              </a:rPr>
              <a:t>이를 기반으로</a:t>
            </a: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일/주/월</a:t>
            </a:r>
            <a:r>
              <a:rPr lang="en-US" sz="1350">
                <a:latin typeface="Noto Sans KR"/>
                <a:ea typeface="Noto Sans KR"/>
                <a:cs typeface="Noto Sans KR"/>
                <a:sym typeface="Noto Sans KR"/>
              </a:rPr>
              <a:t> 또는 </a:t>
            </a: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카테고리/메뉴별 </a:t>
            </a:r>
            <a:r>
              <a:rPr b="1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매출 데이터</a:t>
            </a: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를 정량적으로 분석하여 경영 의사 결정을 지원합니다.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관리자 전용 운영 모드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38" name="Google Shape;238;p23"/>
          <p:cNvGrpSpPr/>
          <p:nvPr/>
        </p:nvGrpSpPr>
        <p:grpSpPr>
          <a:xfrm>
            <a:off x="396331" y="4008009"/>
            <a:ext cx="5330787" cy="858200"/>
            <a:chOff x="411503" y="3962045"/>
            <a:chExt cx="5330787" cy="858200"/>
          </a:xfrm>
        </p:grpSpPr>
        <p:pic>
          <p:nvPicPr>
            <p:cNvPr descr="image.png" id="239" name="Google Shape;239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1503" y="3962045"/>
              <a:ext cx="276532" cy="285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40" name="Google Shape;240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9933" y="4534495"/>
              <a:ext cx="239661" cy="28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3"/>
            <p:cNvSpPr txBox="1"/>
            <p:nvPr/>
          </p:nvSpPr>
          <p:spPr>
            <a:xfrm>
              <a:off x="761990" y="397788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매출 통계 분석</a:t>
              </a: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최근 주문 이력을 불러와 즉시 주문</a:t>
              </a:r>
              <a:endParaRPr/>
            </a:p>
          </p:txBody>
        </p:sp>
        <p:sp>
          <p:nvSpPr>
            <p:cNvPr id="242" name="Google Shape;242;p23"/>
            <p:cNvSpPr txBox="1"/>
            <p:nvPr/>
          </p:nvSpPr>
          <p:spPr>
            <a:xfrm>
              <a:off x="761990" y="455033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메뉴 등록 및 관리</a:t>
              </a: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최근 주문 이력을 불러와 즉시 주문</a:t>
              </a:r>
              <a:endParaRPr/>
            </a:p>
          </p:txBody>
        </p:sp>
      </p:grpSp>
      <p:pic>
        <p:nvPicPr>
          <p:cNvPr id="243" name="Google Shape;243;p23" title="스크린샷_5-3-2026_195142_.jpeg"/>
          <p:cNvPicPr preferRelativeResize="0"/>
          <p:nvPr/>
        </p:nvPicPr>
        <p:blipFill rotWithShape="1">
          <a:blip r:embed="rId6">
            <a:alphaModFix/>
          </a:blip>
          <a:srcRect b="0" l="3689" r="6544" t="60026"/>
          <a:stretch/>
        </p:blipFill>
        <p:spPr>
          <a:xfrm>
            <a:off x="5683325" y="2179491"/>
            <a:ext cx="6404749" cy="274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889" y="2209522"/>
            <a:ext cx="3285250" cy="331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1950" y="1629728"/>
            <a:ext cx="3824324" cy="44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3086" y="1629728"/>
            <a:ext cx="3449021" cy="44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예시(모든 사용자)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863" y="1407633"/>
            <a:ext cx="5407275" cy="49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9675" y="1407625"/>
            <a:ext cx="2931450" cy="49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예시(모든 사용자)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예시(회원)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96" y="1925301"/>
            <a:ext cx="2897060" cy="381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6235" y="2316777"/>
            <a:ext cx="2897063" cy="3030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0074" y="1925313"/>
            <a:ext cx="2726190" cy="381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33054" y="1920797"/>
            <a:ext cx="2626562" cy="38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5350" y="1724751"/>
            <a:ext cx="2781300" cy="45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350" y="2548676"/>
            <a:ext cx="28003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350" y="1335601"/>
            <a:ext cx="2800350" cy="53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예시(관리자)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6523" y="1279938"/>
            <a:ext cx="3249094" cy="50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9875" y="1962250"/>
            <a:ext cx="4391025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예시(관리자)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90137" y="2909441"/>
            <a:ext cx="236883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비즈니스 로직 및 포인트 정책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762000" y="2632238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포인트 적립 </a:t>
            </a:r>
            <a:r>
              <a:rPr b="1" lang="en-US" sz="1800">
                <a:latin typeface="Noto Sans"/>
                <a:ea typeface="Noto Sans"/>
                <a:cs typeface="Noto Sans"/>
                <a:sym typeface="Noto Sans"/>
              </a:rPr>
              <a:t>방식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02" name="Google Shape;302;p29"/>
          <p:cNvGrpSpPr/>
          <p:nvPr/>
        </p:nvGrpSpPr>
        <p:grpSpPr>
          <a:xfrm>
            <a:off x="761995" y="3157112"/>
            <a:ext cx="4464118" cy="1220427"/>
            <a:chOff x="571500" y="3782913"/>
            <a:chExt cx="3368129" cy="920799"/>
          </a:xfrm>
        </p:grpSpPr>
        <p:pic>
          <p:nvPicPr>
            <p:cNvPr descr="image.png" id="303" name="Google Shape;303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3782913"/>
              <a:ext cx="3368129" cy="920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04" name="Google Shape;304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0100" y="3981673"/>
              <a:ext cx="2949029" cy="139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29"/>
            <p:cNvSpPr txBox="1"/>
            <p:nvPr/>
          </p:nvSpPr>
          <p:spPr>
            <a:xfrm>
              <a:off x="849662" y="4241453"/>
              <a:ext cx="2949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2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 회원인 경우, 메뉴 가격의 10% 포인트 적립</a:t>
              </a:r>
              <a:endParaRPr sz="1392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2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</a:t>
              </a:r>
              <a:r>
                <a:rPr b="0" i="0" lang="en-US" sz="1392" u="none" cap="none" strike="noStrike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적립 포인트 1,000원 이상 시 현금처럼 사용 가능</a:t>
              </a:r>
              <a:endParaRPr sz="1856"/>
            </a:p>
          </p:txBody>
        </p:sp>
      </p:grpSp>
      <p:grpSp>
        <p:nvGrpSpPr>
          <p:cNvPr id="306" name="Google Shape;306;p29"/>
          <p:cNvGrpSpPr/>
          <p:nvPr/>
        </p:nvGrpSpPr>
        <p:grpSpPr>
          <a:xfrm>
            <a:off x="6306513" y="2632242"/>
            <a:ext cx="5578212" cy="1747608"/>
            <a:chOff x="6306513" y="2632242"/>
            <a:chExt cx="5578212" cy="1747608"/>
          </a:xfrm>
        </p:grpSpPr>
        <p:pic>
          <p:nvPicPr>
            <p:cNvPr descr="image.png" id="307" name="Google Shape;307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06513" y="323397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08" name="Google Shape;308;p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34115" y="3865337"/>
              <a:ext cx="204580" cy="247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29"/>
            <p:cNvSpPr txBox="1"/>
            <p:nvPr/>
          </p:nvSpPr>
          <p:spPr>
            <a:xfrm>
              <a:off x="6334125" y="2632242"/>
              <a:ext cx="555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핵심 예외 처리 시나리오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310" name="Google Shape;310;p29"/>
            <p:cNvSpPr txBox="1"/>
            <p:nvPr/>
          </p:nvSpPr>
          <p:spPr>
            <a:xfrm>
              <a:off x="6640115" y="3219450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주문 취소: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관리자 승인 시 사용 포인트 즉시 환불</a:t>
              </a:r>
              <a:endParaRPr/>
            </a:p>
          </p:txBody>
        </p:sp>
        <p:sp>
          <p:nvSpPr>
            <p:cNvPr id="311" name="Google Shape;311;p29"/>
            <p:cNvSpPr txBox="1"/>
            <p:nvPr/>
          </p:nvSpPr>
          <p:spPr>
            <a:xfrm>
              <a:off x="6651565" y="3871950"/>
              <a:ext cx="49803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주문 수정: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결제 완료 후 사용자(</a:t>
              </a:r>
              <a:r>
                <a:rPr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모든  회원)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 내역 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수정 불가 (추가 주문만 가능)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/>
          <p:nvPr/>
        </p:nvSpPr>
        <p:spPr>
          <a:xfrm>
            <a:off x="571500" y="2519362"/>
            <a:ext cx="11049000" cy="23145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8" name="Google Shape;318;p30"/>
          <p:cNvGraphicFramePr/>
          <p:nvPr/>
        </p:nvGraphicFramePr>
        <p:xfrm>
          <a:off x="571500" y="2519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{9528119A-89B3-4336-829B-DC3AE680824B}</a:tableStyleId>
              </a:tblPr>
              <a:tblGrid>
                <a:gridCol w="2223800"/>
                <a:gridCol w="5253400"/>
                <a:gridCol w="3571800"/>
              </a:tblGrid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카테고리명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대표 메뉴 구성 (최대 5개)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관리 데이터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커피 (Coffee)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아메리카노, 카페라떼, 바닐라라떼, 콜드브루, 카푸치노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온도(H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OT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ICE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), 사이즈(R/L), 카페인 유/무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논커피 (Non-Coffee)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초코라떼, 딸기라떼, 아이스티, 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자몽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에이드, 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레몬에이드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휘핑 유/무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디저트 (Dessert)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치즈케이크, 초코케이크, 마카롱, 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초코칩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쿠키, 허니브레드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9" name="Google Shape;319;p30"/>
          <p:cNvSpPr/>
          <p:nvPr/>
        </p:nvSpPr>
        <p:spPr>
          <a:xfrm>
            <a:off x="571500" y="3686175"/>
            <a:ext cx="2223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2795289" y="3686175"/>
            <a:ext cx="50574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7852767" y="3686175"/>
            <a:ext cx="3767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571500" y="4257675"/>
            <a:ext cx="2223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2795289" y="4257675"/>
            <a:ext cx="50574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7852767" y="4257675"/>
            <a:ext cx="3767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DB 모델링: 카테고리 및 메뉴 구조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571500" y="5119687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* 카테고리를 테이블화하여 확장성을 확보하고, 옵션 데이터베이스 모델링을 통해 복합 메뉴 구성을 지원합니다.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1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ERD 구조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31" title="카페 키오스크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500" y="1237448"/>
            <a:ext cx="11603000" cy="55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46941"/>
            <a:ext cx="11049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295200" y="25586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