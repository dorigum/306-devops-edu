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Noto Sans KR"/>
      <p:regular r:id="rId19"/>
      <p:bold r:id="rId20"/>
    </p:embeddedFont>
    <p:embeddedFont>
      <p:font typeface="Poppi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20C247F-CBEF-4C06-AC38-856F6BF95668}">
  <a:tblStyle styleId="{420C247F-CBEF-4C06-AC38-856F6BF9566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KR-bold.fntdata"/><Relationship Id="rId11" Type="http://schemas.openxmlformats.org/officeDocument/2006/relationships/slide" Target="slides/slide5.xml"/><Relationship Id="rId22" Type="http://schemas.openxmlformats.org/officeDocument/2006/relationships/font" Target="fonts/Poppins-bold.fntdata"/><Relationship Id="rId10" Type="http://schemas.openxmlformats.org/officeDocument/2006/relationships/slide" Target="slides/slide4.xml"/><Relationship Id="rId21" Type="http://schemas.openxmlformats.org/officeDocument/2006/relationships/font" Target="fonts/Poppins-regular.fntdata"/><Relationship Id="rId13" Type="http://schemas.openxmlformats.org/officeDocument/2006/relationships/slide" Target="slides/slide7.xml"/><Relationship Id="rId24" Type="http://schemas.openxmlformats.org/officeDocument/2006/relationships/font" Target="fonts/Poppins-boldItalic.fntdata"/><Relationship Id="rId12" Type="http://schemas.openxmlformats.org/officeDocument/2006/relationships/slide" Target="slides/slide6.xml"/><Relationship Id="rId23" Type="http://schemas.openxmlformats.org/officeDocument/2006/relationships/font" Target="fonts/Poppi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NotoSansKR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8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8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14.png"/><Relationship Id="rId7" Type="http://schemas.openxmlformats.org/officeDocument/2006/relationships/image" Target="../media/image9.png"/><Relationship Id="rId8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8.png"/><Relationship Id="rId4" Type="http://schemas.openxmlformats.org/officeDocument/2006/relationships/image" Target="../media/image5.png"/><Relationship Id="rId9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15.png"/><Relationship Id="rId8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Relationship Id="rId4" Type="http://schemas.openxmlformats.org/officeDocument/2006/relationships/image" Target="../media/image5.png"/><Relationship Id="rId5" Type="http://schemas.openxmlformats.org/officeDocument/2006/relationships/image" Target="../media/image25.png"/><Relationship Id="rId6" Type="http://schemas.openxmlformats.org/officeDocument/2006/relationships/image" Target="../media/image23.png"/><Relationship Id="rId7" Type="http://schemas.openxmlformats.org/officeDocument/2006/relationships/image" Target="../media/image16.png"/><Relationship Id="rId8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18.png"/><Relationship Id="rId6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17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Relationship Id="rId4" Type="http://schemas.openxmlformats.org/officeDocument/2006/relationships/image" Target="../media/image3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png"/><Relationship Id="rId4" Type="http://schemas.openxmlformats.org/officeDocument/2006/relationships/image" Target="../media/image30.png"/><Relationship Id="rId5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4586287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822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5조: 구도연, 고영진, 신민서</a:t>
            </a:r>
            <a:endParaRPr/>
          </a:p>
        </p:txBody>
      </p:sp>
      <p:pic>
        <p:nvPicPr>
          <p:cNvPr descr="image.png" id="86" name="Google Shape;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1109" y="4614862"/>
            <a:ext cx="148232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295275" y="2014537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Java 기반 카페 키오스크 서비스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3386137"/>
            <a:ext cx="11049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2030 고객 경험 혁신을 위한 스마트 키오스크 시스템 설계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5619750" y="3463379"/>
            <a:ext cx="952500" cy="5715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95275" y="2320379"/>
            <a:ext cx="116014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PROJECT OVERVIEW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2443162" y="3806279"/>
            <a:ext cx="73056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메가커피를 벤치마킹하여 신속한 주문 프로세스를 구축하고,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점주에게는 정밀한 매출 통계 기능을 제공하는 고효율 비즈니스 솔루션입니다.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1033462" y="3062287"/>
            <a:ext cx="13906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5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1033462" y="4491037"/>
            <a:ext cx="13906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주문 단계</a:t>
            </a:r>
            <a:endParaRPr/>
          </a:p>
        </p:txBody>
      </p:sp>
      <p:pic>
        <p:nvPicPr>
          <p:cNvPr descr="image.png"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48037" y="360997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5033962" y="3062287"/>
            <a:ext cx="13906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FACC15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5033962" y="4491037"/>
            <a:ext cx="13906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목표 주문 단계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762000" y="571500"/>
            <a:ext cx="1140142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핵심 목표: 주문 시간 단축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571500" y="571500"/>
            <a:ext cx="76200" cy="6477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7348537" y="3257550"/>
            <a:ext cx="400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2030 타겟팅 전략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7348537" y="3714750"/>
            <a:ext cx="3810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불필요한 입력 단계를 제거하고 '전화번호+비밀번호' 기반의 간편 인증 및 최근 주문 내역 기반 퀵오더를 통해 압도적인 결제 속도를 구현합니다.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88096"/>
            <a:ext cx="3486150" cy="31105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3400" y="2388096"/>
            <a:ext cx="3505200" cy="31105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34350" y="2388096"/>
            <a:ext cx="3486150" cy="31105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911971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43450" y="2921496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24875" y="2911971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762000" y="571500"/>
            <a:ext cx="1140142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시스템 액터(ACTOR) 정의</a:t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571500" y="571500"/>
            <a:ext cx="76200" cy="6477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962025" y="3635871"/>
            <a:ext cx="284035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비회원 (General)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962025" y="4150221"/>
            <a:ext cx="2705100" cy="776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메뉴 카테고리 조회, 상세 옵션 선택, 장바구니 관리 및 일반 결제를 수행하는 기본 액터입니다.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4743450" y="3645396"/>
            <a:ext cx="284035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회원 (Member)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4743450" y="4159746"/>
            <a:ext cx="2705100" cy="776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전화번호 기반 간편 가입, 포인트 적립 및 사용, 과거 주문 이력 조회 및 퀵오더 기능을 활용합니다.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524875" y="3635871"/>
            <a:ext cx="284035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관리자 (Admin)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524875" y="4150221"/>
            <a:ext cx="2705100" cy="776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메뉴 CRUD 관리, 매출 통계 분석, 주문 취소 및 회원 목록 조회를 담당하는 시스템 마스터입니다.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57362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757362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957512"/>
            <a:ext cx="16311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481387"/>
            <a:ext cx="16311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005262"/>
            <a:ext cx="16311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529137"/>
            <a:ext cx="16311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비회원: 주문 프로세스 유즈케이스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877490" y="2928937"/>
            <a:ext cx="498038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메뉴 조회:</a:t>
            </a:r>
            <a:r>
              <a:rPr b="0" i="0" lang="en-US" sz="16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카테고리별 최대 5개 메뉴 노출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877490" y="3452812"/>
            <a:ext cx="498038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옵션 선택:</a:t>
            </a:r>
            <a:r>
              <a:rPr b="0" i="0" lang="en-US" sz="16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사이즈, 온도, 카페인 유무 커스텀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877490" y="3976687"/>
            <a:ext cx="498038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장바구니:</a:t>
            </a:r>
            <a:r>
              <a:rPr b="0" i="0" lang="en-US" sz="16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실시간 수량 수정 및 항목 삭제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877490" y="4500562"/>
            <a:ext cx="498038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결제하기:</a:t>
            </a:r>
            <a:r>
              <a:rPr b="0" i="0" lang="en-US" sz="16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최종 금액 확인 후 주문 승인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57362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757362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557587"/>
            <a:ext cx="16311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4081462"/>
            <a:ext cx="16311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34125" y="4605337"/>
            <a:ext cx="16311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회원: 개인화 및 퀵오더 유즈케이스</a:t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6334125" y="2700337"/>
            <a:ext cx="55506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회원 전용 편의 기능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6334125" y="3138487"/>
            <a:ext cx="52863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단 2번의 터치로 완료되는 주문 경험을 제공합니다.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6640115" y="3529012"/>
            <a:ext cx="498038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퀵오더:</a:t>
            </a:r>
            <a:r>
              <a:rPr b="0" i="0" lang="en-US" sz="16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최근 주문 이력을 불러와 즉시 주문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6640115" y="4052887"/>
            <a:ext cx="498038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전자 영수증:</a:t>
            </a:r>
            <a:r>
              <a:rPr b="0" i="0" lang="en-US" sz="16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과거 주문 이력 실시간 조회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6640115" y="4576762"/>
            <a:ext cx="498038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포인트 관리:</a:t>
            </a:r>
            <a:r>
              <a:rPr b="0" i="0" lang="en-US" sz="16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구매 시 자동 적립 및 결제 시 사용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83277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33750" y="3832770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571500" y="571500"/>
            <a:ext cx="52006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관리자 전용 운영 모드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571500" y="1790700"/>
            <a:ext cx="52006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데이터 기반 매장 운영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571500" y="2266950"/>
            <a:ext cx="4953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점주는 키오스크의 관리자 모드를 통해 실시간 메뉴 품절 처리 및 가격 수정을 진행할 수 있습니다. 특히 일/주/월별 매출 데이터를 정량적으로 분석하여 경영 의사 결정을 지원합니다.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762000" y="4223295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매출 통계 분석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3333750" y="4223295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실시간 메뉴 관리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571500" y="2509837"/>
            <a:ext cx="11049000" cy="239077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3" name="Google Shape;183;p20"/>
          <p:cNvGraphicFramePr/>
          <p:nvPr/>
        </p:nvGraphicFramePr>
        <p:xfrm>
          <a:off x="571500" y="25098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{420C247F-CBEF-4C06-AC38-856F6BF95668}</a:tableStyleId>
              </a:tblPr>
              <a:tblGrid>
                <a:gridCol w="2287500"/>
                <a:gridCol w="4941100"/>
                <a:gridCol w="3820425"/>
              </a:tblGrid>
              <a:tr h="59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카테고리명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대표 메뉴 구성 (최대 5개)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주요 관리 데이터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</a:tr>
              <a:tr h="59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커피 (Coffee)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아메리카노, 카페라떼, 바닐라라떼, 콜드브루, 카푸치노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온도(Hot/Ice), 사이즈(R/L), 카페인 유무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논커피 (Non-Coffee)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초코라떼, 딸기라떼, 복숭아아이스티, 에이드, 스무디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휘핑 유무, 토핑 추가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디저트 (Dessert)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치즈케이크, 초코케이크, 마카롱, 쿠키, 허니브레드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포장 여부, 데움 옵션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4" name="Google Shape;184;p20"/>
          <p:cNvSpPr/>
          <p:nvPr/>
        </p:nvSpPr>
        <p:spPr>
          <a:xfrm>
            <a:off x="571500" y="3714750"/>
            <a:ext cx="2287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2858988" y="3714750"/>
            <a:ext cx="49410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7800082" y="3714750"/>
            <a:ext cx="38204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571500" y="4305300"/>
            <a:ext cx="2287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2858988" y="4305300"/>
            <a:ext cx="49410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7800082" y="4305300"/>
            <a:ext cx="38204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762000" y="571500"/>
            <a:ext cx="1140142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DB 모델링: 카테고리 및 메뉴 구조</a:t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571500" y="571500"/>
            <a:ext cx="76200" cy="6477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571500" y="5186362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* 카테고리를 테이블화하여 확장성을 확보하고, 옵션 데이터베이스 모델링을 통해 복합 메뉴 구성을 지원합니다.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82913"/>
            <a:ext cx="3368129" cy="920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0100" y="3973413"/>
            <a:ext cx="2949029" cy="1397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248025"/>
            <a:ext cx="16311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3771900"/>
            <a:ext cx="16311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34125" y="4295775"/>
            <a:ext cx="16311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비즈니스 로직 및 포인트 정책</a:t>
            </a:r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571500" y="3097113"/>
            <a:ext cx="555069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포인트 적립 및 사용 수식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6334125" y="2724150"/>
            <a:ext cx="555069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핵심 예외 처리 시나리오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800100" y="4208412"/>
            <a:ext cx="294902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* 적립 포인트 1,000원 이상 시 현금처럼 사용 가능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6640115" y="3219450"/>
            <a:ext cx="498038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주문 취소:</a:t>
            </a:r>
            <a:r>
              <a:rPr b="0" i="0" lang="en-US" sz="16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관리자 승인 시 사용 포인트 즉시 환불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6640115" y="3743325"/>
            <a:ext cx="498038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품절 관리:</a:t>
            </a:r>
            <a:r>
              <a:rPr b="0" i="0" lang="en-US" sz="16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재고 0인 경우 메뉴 UI 실시간 비활성화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6640115" y="4267200"/>
            <a:ext cx="4980384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주문 수정:</a:t>
            </a:r>
            <a:r>
              <a:rPr b="0" i="0" lang="en-US" sz="16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결제 완료 후 사용자 수정 불가 (추가 주문만 가능)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00200"/>
            <a:ext cx="11049000" cy="4686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/>
        </p:nvSpPr>
        <p:spPr>
          <a:xfrm>
            <a:off x="762000" y="571500"/>
            <a:ext cx="1140142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분석: 매출 통계 데이터 시뮬레이션</a:t>
            </a: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571500" y="571500"/>
            <a:ext cx="76200" cy="6477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571500" y="5781675"/>
            <a:ext cx="11049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"시간대별/요일별 매출 추이를 통해 2030 주 이용 시간대를 분석하고 맞춤형 프로모션을 기획할 수 있습니다."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14762"/>
            <a:ext cx="243066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44180" y="3814762"/>
            <a:ext cx="243066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6860" y="3814762"/>
            <a:ext cx="243066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89541" y="3814762"/>
            <a:ext cx="2430660" cy="120967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3"/>
          <p:cNvSpPr/>
          <p:nvPr/>
        </p:nvSpPr>
        <p:spPr>
          <a:xfrm>
            <a:off x="571500" y="4400550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 txBox="1"/>
          <p:nvPr/>
        </p:nvSpPr>
        <p:spPr>
          <a:xfrm>
            <a:off x="762000" y="571500"/>
            <a:ext cx="1140142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프로젝트 개발 마일스톤</a:t>
            </a:r>
            <a:endParaRPr/>
          </a:p>
        </p:txBody>
      </p:sp>
      <p:sp>
        <p:nvSpPr>
          <p:cNvPr id="231" name="Google Shape;231;p23"/>
          <p:cNvSpPr/>
          <p:nvPr/>
        </p:nvSpPr>
        <p:spPr>
          <a:xfrm>
            <a:off x="571500" y="571500"/>
            <a:ext cx="76200" cy="6477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 txBox="1"/>
          <p:nvPr/>
        </p:nvSpPr>
        <p:spPr>
          <a:xfrm>
            <a:off x="730760" y="4024312"/>
            <a:ext cx="211213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Step 1: 분석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781050" y="4414837"/>
            <a:ext cx="201156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요구사항 정의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유즈케이스 설계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3603441" y="4024312"/>
            <a:ext cx="211213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Step 2: 설계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3653730" y="4414837"/>
            <a:ext cx="201156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MySQL 모델링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MVC 패턴 구조화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6476121" y="4024312"/>
            <a:ext cx="211213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Step 3: 개발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6526410" y="4414837"/>
            <a:ext cx="201156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기능 구현 및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UI 연동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9348802" y="4024312"/>
            <a:ext cx="211213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Step 4: 테스트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9399091" y="4414837"/>
            <a:ext cx="201156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예외 로직 점검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최종 배포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8A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443412"/>
            <a:ext cx="110490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4"/>
          <p:cNvSpPr txBox="1"/>
          <p:nvPr/>
        </p:nvSpPr>
        <p:spPr>
          <a:xfrm>
            <a:off x="295275" y="1843087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ACC15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571500" y="3405187"/>
            <a:ext cx="11049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Java 기반 카페 키오스크 서비스 설계 보고를 마칩니다.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