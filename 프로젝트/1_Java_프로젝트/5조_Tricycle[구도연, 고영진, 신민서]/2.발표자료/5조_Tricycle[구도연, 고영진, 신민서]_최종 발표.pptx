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24384000" cy="13716000"/>
  <p:notesSz cx="6858000" cy="9144000"/>
  <p:embeddedFontLst>
    <p:embeddedFont>
      <p:font typeface="NanumSquare Regular"/>
      <p:regular r:id="rId49"/>
    </p:embeddedFont>
    <p:embeddedFont>
      <p:font typeface="Black Han Sans Regular"/>
      <p:regular r:id="rId50"/>
    </p:embeddedFont>
    <p:embeddedFont>
      <p:font typeface="Gong Gothic Bold"/>
      <p:bold r:id="rId51"/>
    </p:embeddedFont>
    <p:embeddedFont>
      <p:font typeface="SB AggroOTF Light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fonts/font1.fntdata" Type="http://schemas.openxmlformats.org/officeDocument/2006/relationships/font"/><Relationship Id="rId5" Target="tableStyles.xml" Type="http://schemas.openxmlformats.org/officeDocument/2006/relationships/tableStyles"/><Relationship Id="rId50" Target="fonts/font2.fntdata" Type="http://schemas.openxmlformats.org/officeDocument/2006/relationships/font"/><Relationship Id="rId51" Target="fonts/font3.fntdata" Type="http://schemas.openxmlformats.org/officeDocument/2006/relationships/font"/><Relationship Id="rId52" Target="fonts/font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18.png" Type="http://schemas.openxmlformats.org/officeDocument/2006/relationships/image"/><Relationship Id="rId5" Target="../media/image14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3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31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3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3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81.png" Type="http://schemas.openxmlformats.org/officeDocument/2006/relationships/image"/><Relationship Id="rId6" Target="../media/image82.png" Type="http://schemas.openxmlformats.org/officeDocument/2006/relationships/image"/><Relationship Id="rId7" Target="../media/image83.png" Type="http://schemas.openxmlformats.org/officeDocument/2006/relationships/image"/><Relationship Id="rId8" Target="../media/image84.pn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1.png" Type="http://schemas.openxmlformats.org/officeDocument/2006/relationships/image"/><Relationship Id="rId5" Target="../media/image92.png" Type="http://schemas.openxmlformats.org/officeDocument/2006/relationships/image"/><Relationship Id="rId6" Target="../media/image93.png" Type="http://schemas.openxmlformats.org/officeDocument/2006/relationships/image"/><Relationship Id="rId7" Target="../media/image94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1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95.png" Type="http://schemas.openxmlformats.org/officeDocument/2006/relationships/image"/><Relationship Id="rId6" Target="../media/image96.png" Type="http://schemas.openxmlformats.org/officeDocument/2006/relationships/image"/><Relationship Id="rId7" Target="" TargetMode="External" Type="http://schemas.openxmlformats.org/officeDocument/2006/relationships/hyperlink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97.png" Type="http://schemas.openxmlformats.org/officeDocument/2006/relationships/image"/><Relationship Id="rId5" Target="../media/image98.png" Type="http://schemas.openxmlformats.org/officeDocument/2006/relationships/image"/><Relationship Id="rId6" Target="../media/image96.png" Type="http://schemas.openxmlformats.org/officeDocument/2006/relationships/image"/><Relationship Id="rId7" Target="" TargetMode="External" Type="http://schemas.openxmlformats.org/officeDocument/2006/relationships/hyperlink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96.png" Type="http://schemas.openxmlformats.org/officeDocument/2006/relationships/image"/><Relationship Id="rId7" Target="" TargetMode="External" Type="http://schemas.openxmlformats.org/officeDocument/2006/relationships/hyperlink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1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3.png" Type="http://schemas.openxmlformats.org/officeDocument/2006/relationships/image"/><Relationship Id="rId5" Target="../media/image101.png" Type="http://schemas.openxmlformats.org/officeDocument/2006/relationships/image"/><Relationship Id="rId6" Target="../media/image102.png" Type="http://schemas.openxmlformats.org/officeDocument/2006/relationships/image"/><Relationship Id="rId7" Target="../media/image103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104.png" Type="http://schemas.openxmlformats.org/officeDocument/2006/relationships/image"/><Relationship Id="rId5" Target="../media/image101.png" Type="http://schemas.openxmlformats.org/officeDocument/2006/relationships/image"/><Relationship Id="rId6" Target="../media/image102.png" Type="http://schemas.openxmlformats.org/officeDocument/2006/relationships/image"/><Relationship Id="rId7" Target="../media/image10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99.png" Type="http://schemas.openxmlformats.org/officeDocument/2006/relationships/image"/><Relationship Id="rId5" Target="../media/image101.png" Type="http://schemas.openxmlformats.org/officeDocument/2006/relationships/image"/><Relationship Id="rId6" Target="../media/image102.png" Type="http://schemas.openxmlformats.org/officeDocument/2006/relationships/image"/><Relationship Id="rId7" Target="../media/image10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1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12153900"/>
            <a:ext cx="223774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12877800"/>
            <a:ext cx="22377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0600" y="952500"/>
            <a:ext cx="558800" cy="254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328400" y="9359900"/>
            <a:ext cx="12052300" cy="2425700"/>
          </a:xfrm>
          <a:prstGeom prst="rect">
            <a:avLst/>
          </a:prstGeom>
        </p:spPr>
        <p:txBody>
          <a:bodyPr anchor="ctr" rtlCol="false" lIns="0" tIns="44873" rIns="0" bIns="44873"/>
          <a:lstStyle/>
          <a:p>
            <a:pPr algn="r" lvl="0">
              <a:lnSpc>
                <a:spcPct val="107899"/>
              </a:lnSpc>
            </a:pPr>
            <a:r>
              <a:rPr lang="en-US" sz="7066" b="tru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5조_TRICYCLE
</a:t>
            </a:r>
            <a:r>
              <a:rPr lang="en-US" sz="42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구도연 고영진 신민서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05000" y="2781300"/>
            <a:ext cx="17653000" cy="5473700"/>
          </a:xfrm>
          <a:prstGeom prst="rect">
            <a:avLst/>
          </a:prstGeom>
        </p:spPr>
        <p:txBody>
          <a:bodyPr anchor="ctr" rtlCol="false" lIns="0" tIns="84090" rIns="0" bIns="84090"/>
          <a:lstStyle/>
          <a:p>
            <a:pPr algn="l" lvl="0">
              <a:lnSpc>
                <a:spcPct val="104580"/>
              </a:lnSpc>
            </a:pPr>
            <a:r>
              <a:rPr lang="en-US" sz="16218" b="false" i="false" u="none" strike="noStrike" spc="-500">
                <a:solidFill>
                  <a:srgbClr val="595959"/>
                </a:solidFill>
                <a:latin typeface="Black Han Sans Regular"/>
                <a:ea typeface="Black Han Sans Regular"/>
                <a:cs typeface="Black Han Sans Regular"/>
              </a:rPr>
              <a:t>SMART</a:t>
            </a:r>
          </a:p>
          <a:p>
            <a:pPr algn="l" lvl="0">
              <a:lnSpc>
                <a:spcPct val="104580"/>
              </a:lnSpc>
            </a:pPr>
            <a:r>
              <a:rPr lang="en-US" sz="16218" b="false" i="false" u="none" strike="noStrike" spc="-500">
                <a:solidFill>
                  <a:srgbClr val="595959"/>
                </a:solidFill>
                <a:latin typeface="Black Han Sans Regular"/>
                <a:ea typeface="Black Han Sans Regular"/>
                <a:cs typeface="Black Han Sans Regular"/>
              </a:rPr>
              <a:t>CAFFEE KIOSK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0" y="275590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3500" y="35179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1346200" y="8432800"/>
            <a:ext cx="21704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6426200" y="5994400"/>
            <a:ext cx="43307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13677900" y="5994400"/>
            <a:ext cx="43307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889500" y="9766300"/>
            <a:ext cx="5676900" cy="1092200"/>
          </a:xfrm>
          <a:prstGeom prst="rect">
            <a:avLst/>
          </a:prstGeom>
        </p:spPr>
        <p:txBody>
          <a:bodyPr anchor="ctr" rtlCol="false" lIns="0" tIns="82136" rIns="0" bIns="82136"/>
          <a:lstStyle/>
          <a:p>
            <a:pPr algn="ctr" lvl="0">
              <a:lnSpc>
                <a:spcPct val="98770"/>
              </a:lnSpc>
            </a:pPr>
            <a:r>
              <a:rPr lang="en-US" sz="6159" b="true" i="false" u="none" strike="noStrike">
                <a:solidFill>
                  <a:srgbClr val="568A35"/>
                </a:solidFill>
                <a:latin typeface="NanumSquare Regular"/>
                <a:ea typeface="NanumSquare Regular"/>
                <a:cs typeface="NanumSquare Regular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02200" y="11125200"/>
            <a:ext cx="5613400" cy="7112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454545"/>
                </a:solidFill>
                <a:latin typeface="NanumSquare Regular"/>
                <a:ea typeface="NanumSquare Regular"/>
                <a:cs typeface="NanumSquare Regular"/>
              </a:rPr>
              <a:t>Demonstration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33600" y="4940300"/>
            <a:ext cx="5676900" cy="1092200"/>
          </a:xfrm>
          <a:prstGeom prst="rect">
            <a:avLst/>
          </a:prstGeom>
        </p:spPr>
        <p:txBody>
          <a:bodyPr anchor="ctr" rtlCol="false" lIns="0" tIns="82136" rIns="0" bIns="82136"/>
          <a:lstStyle/>
          <a:p>
            <a:pPr algn="ctr" lvl="0">
              <a:lnSpc>
                <a:spcPct val="98770"/>
              </a:lnSpc>
            </a:pPr>
            <a:r>
              <a:rPr lang="en-US" sz="6159" b="true" i="false" u="none" strike="noStrike">
                <a:solidFill>
                  <a:srgbClr val="568A35"/>
                </a:solidFill>
                <a:latin typeface="NanumSquare Regular"/>
                <a:ea typeface="NanumSquare Regular"/>
                <a:cs typeface="NanumSquare Regular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71700" y="6311900"/>
            <a:ext cx="5613400" cy="7112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454545"/>
                </a:solidFill>
                <a:latin typeface="NanumSquare Regular"/>
                <a:ea typeface="NanumSquare Regular"/>
                <a:cs typeface="NanumSquare Regular"/>
              </a:rPr>
              <a:t>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600" y="4927600"/>
            <a:ext cx="5524500" cy="1092200"/>
          </a:xfrm>
          <a:prstGeom prst="rect">
            <a:avLst/>
          </a:prstGeom>
        </p:spPr>
        <p:txBody>
          <a:bodyPr anchor="ctr" rtlCol="false" lIns="0" tIns="82136" rIns="0" bIns="82136"/>
          <a:lstStyle/>
          <a:p>
            <a:pPr algn="ctr" lvl="0">
              <a:lnSpc>
                <a:spcPct val="98770"/>
              </a:lnSpc>
            </a:pPr>
            <a:r>
              <a:rPr lang="en-US" sz="6159" b="true" i="false" u="none" strike="noStrike">
                <a:solidFill>
                  <a:srgbClr val="568A35"/>
                </a:solidFill>
                <a:latin typeface="NanumSquare Regular"/>
                <a:ea typeface="NanumSquare Regular"/>
                <a:cs typeface="NanumSquare Regular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37700" y="5981700"/>
            <a:ext cx="5626100" cy="13716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454545"/>
                </a:solidFill>
                <a:latin typeface="NanumSquare Regular"/>
                <a:ea typeface="NanumSquare Regular"/>
                <a:cs typeface="NanumSquare Regular"/>
              </a:rPr>
              <a:t>System Architecture &amp;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49700" y="4914900"/>
            <a:ext cx="5676900" cy="1092200"/>
          </a:xfrm>
          <a:prstGeom prst="rect">
            <a:avLst/>
          </a:prstGeom>
        </p:spPr>
        <p:txBody>
          <a:bodyPr anchor="ctr" rtlCol="false" lIns="0" tIns="82136" rIns="0" bIns="82136"/>
          <a:lstStyle/>
          <a:p>
            <a:pPr algn="ctr" lvl="0">
              <a:lnSpc>
                <a:spcPct val="98770"/>
              </a:lnSpc>
            </a:pPr>
            <a:r>
              <a:rPr lang="en-US" sz="6159" b="true" i="false" u="none" strike="noStrike">
                <a:solidFill>
                  <a:srgbClr val="568A35"/>
                </a:solidFill>
                <a:latin typeface="NanumSquare Regular"/>
                <a:ea typeface="NanumSquare Regular"/>
                <a:cs typeface="NanumSquare Regular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87800" y="6311900"/>
            <a:ext cx="5613400" cy="7112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454545"/>
                </a:solidFill>
                <a:latin typeface="NanumSquare Regular"/>
                <a:ea typeface="NanumSquare Regular"/>
                <a:cs typeface="NanumSquare Regular"/>
              </a:rPr>
              <a:t> Implementation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68400" y="9613900"/>
            <a:ext cx="5676900" cy="1092200"/>
          </a:xfrm>
          <a:prstGeom prst="rect">
            <a:avLst/>
          </a:prstGeom>
        </p:spPr>
        <p:txBody>
          <a:bodyPr anchor="ctr" rtlCol="false" lIns="0" tIns="82136" rIns="0" bIns="82136"/>
          <a:lstStyle/>
          <a:p>
            <a:pPr algn="ctr" lvl="0">
              <a:lnSpc>
                <a:spcPct val="98770"/>
              </a:lnSpc>
            </a:pPr>
            <a:r>
              <a:rPr lang="en-US" sz="6159" b="false" i="false" u="none" strike="noStrike">
                <a:solidFill>
                  <a:srgbClr val="568A35"/>
                </a:solidFill>
                <a:latin typeface="NanumSquare Regular"/>
                <a:ea typeface="NanumSquare Regular"/>
                <a:cs typeface="NanumSquare Regular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06500" y="10655300"/>
            <a:ext cx="5613400" cy="13716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454545"/>
                </a:solidFill>
                <a:latin typeface="NanumSquare Regular"/>
                <a:ea typeface="NanumSquare Regular"/>
                <a:cs typeface="NanumSquare Regular"/>
              </a:rPr>
              <a:t>Trouble Shooting &amp; 
Retrospective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38500" y="1409700"/>
            <a:ext cx="17907000" cy="1879600"/>
          </a:xfrm>
          <a:prstGeom prst="rect">
            <a:avLst/>
          </a:prstGeom>
        </p:spPr>
        <p:txBody>
          <a:bodyPr anchor="ctr" rtlCol="false" lIns="0" tIns="141298" rIns="0" bIns="141298"/>
          <a:lstStyle/>
          <a:p>
            <a:pPr algn="ctr" lvl="0">
              <a:lnSpc>
                <a:spcPct val="98770"/>
              </a:lnSpc>
            </a:pPr>
            <a:r>
              <a:rPr lang="en-US" sz="10596" b="false" i="false" u="none" strike="noStrike">
                <a:solidFill>
                  <a:srgbClr val="454545"/>
                </a:solidFill>
                <a:latin typeface="Gong Gothic Bold"/>
                <a:ea typeface="Gong Gothic Bold"/>
                <a:cs typeface="Gong Gothic Bold"/>
              </a:rPr>
              <a:t>목차 페이지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5400000">
            <a:off x="10147300" y="10858500"/>
            <a:ext cx="40767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0">
            <a:off x="1854200" y="12001500"/>
            <a:ext cx="80518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778000" y="5130800"/>
            <a:ext cx="11379200" cy="4508500"/>
          </a:xfrm>
          <a:prstGeom prst="rect">
            <a:avLst/>
          </a:prstGeom>
        </p:spPr>
        <p:txBody>
          <a:bodyPr anchor="ctr" rtlCol="false" lIns="0" tIns="17695" rIns="0" bIns="17695"/>
          <a:lstStyle/>
          <a:p>
            <a:pPr algn="l" lvl="0">
              <a:lnSpc>
                <a:spcPct val="115287"/>
              </a:lnSpc>
            </a:pPr>
            <a:r>
              <a:rPr lang="en-US" sz="25333" b="false" i="false" u="none" strike="noStrike">
                <a:solidFill>
                  <a:srgbClr val="568A35"/>
                </a:solidFill>
                <a:latin typeface="Black Han Sans Regular"/>
                <a:ea typeface="Black Han Sans Regular"/>
                <a:cs typeface="Black Han Sans Regular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8000" y="8864600"/>
            <a:ext cx="19177000" cy="3416300"/>
          </a:xfrm>
          <a:prstGeom prst="rect">
            <a:avLst/>
          </a:prstGeom>
        </p:spPr>
        <p:txBody>
          <a:bodyPr anchor="ctr" rtlCol="false" lIns="0" tIns="292826" rIns="0" bIns="292826"/>
          <a:lstStyle/>
          <a:p>
            <a:pPr algn="l" lvl="0">
              <a:lnSpc>
                <a:spcPct val="82170"/>
              </a:lnSpc>
            </a:pPr>
            <a:r>
              <a:rPr lang="en-US" sz="11247" b="false" i="false" u="none" strike="noStrike" cap="all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189200" y="9461500"/>
            <a:ext cx="7950200" cy="175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5333" b="tru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신민서</a:t>
            </a:r>
          </a:p>
          <a:p>
            <a:pPr algn="ctr" lvl="0">
              <a:lnSpc>
                <a:spcPct val="128650"/>
              </a:lnSpc>
            </a:pPr>
            <a:r>
              <a:rPr lang="en-US" sz="4000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회원 파트 담당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Team introduction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51300" y="3162300"/>
            <a:ext cx="5130800" cy="513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94800" y="3175000"/>
            <a:ext cx="5092700" cy="5156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51300" y="3175000"/>
            <a:ext cx="5130800" cy="513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28800" y="3162300"/>
            <a:ext cx="5118100" cy="5168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406400" y="9461500"/>
            <a:ext cx="7950200" cy="175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5333" b="tru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구도연</a:t>
            </a:r>
          </a:p>
          <a:p>
            <a:pPr algn="ctr" lvl="0">
              <a:lnSpc>
                <a:spcPct val="128650"/>
              </a:lnSpc>
            </a:pPr>
            <a:r>
              <a:rPr lang="en-US" sz="4000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관리자 파트 담당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72400" y="9461500"/>
            <a:ext cx="7950200" cy="175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5333" b="tru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고영진</a:t>
            </a:r>
          </a:p>
          <a:p>
            <a:pPr algn="ctr" lvl="0">
              <a:lnSpc>
                <a:spcPct val="128650"/>
              </a:lnSpc>
            </a:pPr>
            <a:r>
              <a:rPr lang="en-US" sz="4000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주문 파트 담당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937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189200" y="9461500"/>
            <a:ext cx="7950200" cy="175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5333" b="tru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신민서</a:t>
            </a:r>
          </a:p>
          <a:p>
            <a:pPr algn="ctr" lvl="0">
              <a:lnSpc>
                <a:spcPct val="128650"/>
              </a:lnSpc>
            </a:pPr>
            <a:r>
              <a:rPr lang="en-US" sz="4000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회원 파트 담당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06172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Team introduction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51300" y="3162300"/>
            <a:ext cx="5130800" cy="513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28800" y="3162300"/>
            <a:ext cx="5118100" cy="5168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06400" y="9461500"/>
            <a:ext cx="7950200" cy="175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5333" b="tru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구도연</a:t>
            </a:r>
          </a:p>
          <a:p>
            <a:pPr algn="ctr" lvl="0">
              <a:lnSpc>
                <a:spcPct val="128650"/>
              </a:lnSpc>
            </a:pPr>
            <a:r>
              <a:rPr lang="en-US" sz="4000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관리자 파트 담당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72400" y="9461500"/>
            <a:ext cx="7950200" cy="175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5333" b="tru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고영진</a:t>
            </a:r>
          </a:p>
          <a:p>
            <a:pPr algn="ctr" lvl="0">
              <a:lnSpc>
                <a:spcPct val="128650"/>
              </a:lnSpc>
            </a:pPr>
            <a:r>
              <a:rPr lang="en-US" sz="4000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주문 파트 담당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28800" y="3175000"/>
            <a:ext cx="5118100" cy="513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639300" y="3162300"/>
            <a:ext cx="51308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15316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Project 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43400"/>
            <a:ext cx="12471400" cy="591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474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1. 시장 현황 (Current Market Trends)</a:t>
            </a:r>
          </a:p>
          <a:p>
            <a:pPr algn="l" lvl="0">
              <a:lnSpc>
                <a:spcPct val="141100"/>
              </a:lnSpc>
            </a:pPr>
            <a:r>
              <a:rPr lang="en-US" sz="3474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국내 커피 소비량 꾸준히 상승</a:t>
            </a:r>
          </a:p>
          <a:p>
            <a:pPr algn="l" lvl="0">
              <a:lnSpc>
                <a:spcPct val="141100"/>
              </a:lnSpc>
            </a:pPr>
            <a:r>
              <a:rPr lang="en-US" sz="3474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KOSTA 강의실 내에서도 매일 아침 많은 학생들이 커피를 구매
2. 핵심 타겟 (Target Audience)</a:t>
            </a:r>
          </a:p>
          <a:p>
            <a:pPr algn="l" lvl="0">
              <a:lnSpc>
                <a:spcPct val="141100"/>
              </a:lnSpc>
            </a:pPr>
            <a:r>
              <a:rPr lang="en-US" sz="3474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- 2030 핵심 커피 소비자 및 10대 비커피(음료) 소비자
- 정량적 데이터를 바탕으로 인기 메뉴를 분석하고자 하는 매장 점주</a:t>
            </a:r>
            <a:br>
              <a:rPr lang="en-US" sz="3474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</a:b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097000" y="1854200"/>
            <a:ext cx="8788400" cy="1127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15316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Project 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6500" y="2260600"/>
            <a:ext cx="21678900" cy="318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866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3. 기존 서비스의 문제점</a:t>
            </a:r>
          </a:p>
          <a:p>
            <a:pPr algn="l" lvl="0">
              <a:lnSpc>
                <a:spcPct val="141100"/>
              </a:lnSpc>
            </a:pPr>
            <a:r>
              <a:rPr lang="en-US" sz="3866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주문 적체 : 피크 타임 시 복잡한 옵션 선택으로 인한 대기 시간 지연
- 개인화 부족 : 수많은 메뉴 중 주문할 메뉴를 매번 새로 찾아야 하는 번거로움
- 데이터 부족 : 점주 입장에서 정교한 매출 통계 및 분석의 한계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032500" y="5880100"/>
            <a:ext cx="11430000" cy="7124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15316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Project 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0300" y="2374900"/>
            <a:ext cx="21678900" cy="238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866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4. 솔루션 및 차별성</a:t>
            </a:r>
          </a:p>
          <a:p>
            <a:pPr algn="l" lvl="0">
              <a:lnSpc>
                <a:spcPct val="141100"/>
              </a:lnSpc>
            </a:pPr>
            <a:r>
              <a:rPr lang="en-US" sz="3866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사용자 측면 : 주문 이력 기반 </a:t>
            </a:r>
            <a:r>
              <a:rPr lang="en-US" sz="38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퀵오더</a:t>
            </a:r>
            <a:r>
              <a:rPr lang="en-US" sz="3866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 및 맞춤 </a:t>
            </a:r>
            <a:r>
              <a:rPr lang="en-US" sz="38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추천 메뉴</a:t>
            </a:r>
            <a:r>
              <a:rPr lang="en-US" sz="3866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 기능으로 주문 시간 단축
- 관리자 측면: </a:t>
            </a:r>
            <a:r>
              <a:rPr lang="en-US" sz="38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시각화된 매출 통계</a:t>
            </a:r>
            <a:r>
              <a:rPr lang="en-US" sz="3866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로 정량적 데이터 분석 가능</a:t>
            </a:r>
            <a:r>
              <a:rPr lang="en-US" sz="3866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122400" y="5422900"/>
            <a:ext cx="7035800" cy="6832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55800" y="5422900"/>
            <a:ext cx="10236200" cy="6832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0">
            <a:off x="1841500" y="12357100"/>
            <a:ext cx="80518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778000" y="5130800"/>
            <a:ext cx="11379200" cy="4508500"/>
          </a:xfrm>
          <a:prstGeom prst="rect">
            <a:avLst/>
          </a:prstGeom>
        </p:spPr>
        <p:txBody>
          <a:bodyPr anchor="ctr" rtlCol="false" lIns="0" tIns="17695" rIns="0" bIns="17695"/>
          <a:lstStyle/>
          <a:p>
            <a:pPr algn="l" lvl="0">
              <a:lnSpc>
                <a:spcPct val="115287"/>
              </a:lnSpc>
            </a:pPr>
            <a:r>
              <a:rPr lang="en-US" sz="25333" b="false" i="false" u="none" strike="noStrike">
                <a:solidFill>
                  <a:srgbClr val="568A35"/>
                </a:solidFill>
                <a:latin typeface="Black Han Sans Regular"/>
                <a:ea typeface="Black Han Sans Regular"/>
                <a:cs typeface="Black Han Sans Regular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52600" y="8864600"/>
            <a:ext cx="19227800" cy="3416300"/>
          </a:xfrm>
          <a:prstGeom prst="rect">
            <a:avLst/>
          </a:prstGeom>
        </p:spPr>
        <p:txBody>
          <a:bodyPr anchor="ctr" rtlCol="false" lIns="0" tIns="292826" rIns="0" bIns="292826"/>
          <a:lstStyle/>
          <a:p>
            <a:pPr algn="l" lvl="0">
              <a:lnSpc>
                <a:spcPct val="82170"/>
              </a:lnSpc>
            </a:pPr>
            <a:r>
              <a:rPr lang="en-US" sz="11247" b="false" i="false" u="none" strike="noStrike" cap="all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System Architecture &amp; Design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개발 환경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143500" y="4470400"/>
          <a:ext cx="14109700" cy="6108700"/>
        </p:xfrm>
        <a:graphic>
          <a:graphicData uri="http://schemas.openxmlformats.org/drawingml/2006/table">
            <a:tbl>
              <a:tblPr/>
              <a:tblGrid>
                <a:gridCol w="7054157"/>
                <a:gridCol w="7054157"/>
              </a:tblGrid>
              <a:tr h="87274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tru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구분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48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tru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기술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485"/>
                    </a:solidFill>
                  </a:tcPr>
                </a:tc>
              </a:tr>
              <a:tr h="87274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언어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Java 17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274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개발 도구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Eclipse IDE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274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아키텍처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MVC 패턴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274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DB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Docker, AWS EC2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274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형상 관리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GitHub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274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협업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4000" b="false" i="false" u="none" strike="noStrike">
                          <a:solidFill>
                            <a:srgbClr val="000000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Notion, DBdiagram</a:t>
                      </a:r>
                      <a:endParaRPr lang="en-US" sz="1100"/>
                    </a:p>
                  </a:txBody>
                  <a:tcPr anchor="ctr" marL="152400" marT="76200" marR="152400" marB="762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아키텍처 다이어그램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32200" y="2070100"/>
            <a:ext cx="16217900" cy="10896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플로우 차트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0300" y="1854200"/>
            <a:ext cx="22110700" cy="1117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ERD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36700" y="2070100"/>
            <a:ext cx="20408900" cy="11264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683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64643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요구사항 정의서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3400" y="2095500"/>
            <a:ext cx="11887200" cy="1076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20600" y="4914900"/>
            <a:ext cx="11353800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778000" y="5080000"/>
            <a:ext cx="11379200" cy="4508500"/>
          </a:xfrm>
          <a:prstGeom prst="rect">
            <a:avLst/>
          </a:prstGeom>
        </p:spPr>
        <p:txBody>
          <a:bodyPr anchor="ctr" rtlCol="false" lIns="0" tIns="17695" rIns="0" bIns="17695"/>
          <a:lstStyle/>
          <a:p>
            <a:pPr algn="l" lvl="0">
              <a:lnSpc>
                <a:spcPct val="115287"/>
              </a:lnSpc>
            </a:pPr>
            <a:r>
              <a:rPr lang="en-US" sz="25333" b="false" i="false" u="none" strike="noStrike">
                <a:solidFill>
                  <a:srgbClr val="568A35"/>
                </a:solidFill>
                <a:latin typeface="Black Han Sans Regular"/>
                <a:ea typeface="Black Han Sans Regular"/>
                <a:cs typeface="Black Han Sans Regular"/>
              </a:rPr>
              <a:t>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0500" y="9563100"/>
            <a:ext cx="16217900" cy="1993900"/>
          </a:xfrm>
          <a:prstGeom prst="rect">
            <a:avLst/>
          </a:prstGeom>
        </p:spPr>
        <p:txBody>
          <a:bodyPr anchor="ctr" rtlCol="false" lIns="0" tIns="7856" rIns="0" bIns="7856"/>
          <a:lstStyle/>
          <a:p>
            <a:pPr algn="l" lvl="0">
              <a:lnSpc>
                <a:spcPct val="115287"/>
              </a:lnSpc>
            </a:pPr>
            <a:r>
              <a:rPr lang="en-US" sz="11247" b="false" i="false" u="none" strike="noStrike" cap="all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 Implementation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1854200" y="12001500"/>
            <a:ext cx="80518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064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회원가입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2819400"/>
            <a:ext cx="8293100" cy="9563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880600" y="9944100"/>
            <a:ext cx="13233400" cy="2070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유효성 검사  →  전화번호 형식 / 비밀번호 4자리 이상 / 중복 전화번호 검사
- 비밀번호 암호화  →  PasswordUtil.encrypt() SHA-256 적용 후 저장
- 선호 카테고리 저장  →  preferred_category_id DB 저장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423400" y="6553200"/>
            <a:ext cx="14020800" cy="236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271000" y="2819400"/>
            <a:ext cx="13919200" cy="2959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63500" y="6464300"/>
            <a:ext cx="2400300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로그인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41400" y="3517900"/>
            <a:ext cx="7226300" cy="7886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867900" y="7467600"/>
            <a:ext cx="12598400" cy="295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전화번호 자동 정규화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 →  replaceAll("[^0-9]", "") 로 숫자 추출 후 010-XXXX-XXXX 재조합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
- 비밀번호 단방향 암호화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 →  PasswordUtil.encrypt() SHA-256 암호화 후 DB 값과 비교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85200" y="4000500"/>
            <a:ext cx="144653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27100" y="10172700"/>
            <a:ext cx="13436600" cy="203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1단계</a:t>
            </a: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 →  ORDERS 최근 5건 조회 (ORDER BY order_date DESC LIMIT 5)
</a:t>
            </a:r>
            <a:r>
              <a:rPr lang="en-US" sz="3333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2단계</a:t>
            </a: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 →  ORDER_ITEM 조회 후 order.setItems() 연결
</a:t>
            </a:r>
            <a:r>
              <a:rPr lang="en-US" sz="3333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3단계 </a:t>
            </a: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→  ORDER_ITEM_OPTION 조회 후 item.setOptions() 연결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주문내역조회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27100" y="7289800"/>
            <a:ext cx="12014200" cy="163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7100" y="4838700"/>
            <a:ext cx="196977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27100" y="6057900"/>
            <a:ext cx="14363700" cy="965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11300" y="7289800"/>
            <a:ext cx="9461500" cy="584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530600" y="2019300"/>
            <a:ext cx="164338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747500" y="7391400"/>
            <a:ext cx="11341100" cy="3149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829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1단계</a:t>
            </a: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  →  ORDERS 최근 COMPLETED 주문 1건 조회
</a:t>
            </a:r>
            <a:r>
              <a:rPr lang="en-US" sz="3333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2단계</a:t>
            </a: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  →  ORDER_ITEM 조회
</a:t>
            </a:r>
            <a:r>
              <a:rPr lang="en-US" sz="3333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3단계</a:t>
            </a: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  →  ORDER_ITEM_OPTION 조회 (옵션 포함)
</a:t>
            </a:r>
            <a:r>
              <a:rPr lang="en-US" sz="3333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카트 연결</a:t>
            </a: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  →  Y 선택 시 OrderingView.runWithCart() 자동 연결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퀵오더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47900" y="5245100"/>
            <a:ext cx="8064500" cy="779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05000" y="2235200"/>
            <a:ext cx="1968500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50900" y="10414000"/>
            <a:ext cx="14935200" cy="203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선호 카테고리 저장 →  회원가입 시 preferred_category_id MEMBER 테이블에 저장
랜덤 3개 추출 →  Collections.shuffle() 후 subList(0, 3) 반환
즉시 반영 →  member.setPreferredCategoryId() 로 재로그인 없이 바로 적용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 선호 카테고리 / 추천 메뉴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0" y="3162300"/>
            <a:ext cx="7569200" cy="9220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381500" y="5092700"/>
            <a:ext cx="6883400" cy="4648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89000" y="2349500"/>
            <a:ext cx="1270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937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798300" y="6870700"/>
            <a:ext cx="12039600" cy="3556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메뉴 진입 분리</a:t>
            </a:r>
          </a:p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 →  run() 메인 진입 / runMenuSelectionLoop() 메뉴 선택 단계 분리</a:t>
            </a:r>
          </a:p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
- 공통 입력 처리</a:t>
            </a:r>
          </a:p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 →  0(뒤로) / 8(카트) / 9(주문하기) 공통 처리로 일관된 UX 제공</a:t>
            </a:r>
            <a:r>
              <a:rPr lang="en-US" sz="2685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손님 주문 흐름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7400" y="4978400"/>
            <a:ext cx="10756900" cy="800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09800" y="1892300"/>
            <a:ext cx="190754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747500" y="2387600"/>
            <a:ext cx="12153900" cy="3556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메뉴 진입 분리 </a:t>
            </a:r>
          </a:p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 →  run() 메인 진입 / runMenuSelectionLoop() 메뉴 선택 단계 분리
</a:t>
            </a: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/>
            </a:r>
          </a:p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공통 입력 처리 </a:t>
            </a:r>
          </a:p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 →  0(뒤로) / 8(카트) / 9(주문하기) 공통 처리로 일관된 UX 제공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옵션 선택 기능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90700" y="6464300"/>
            <a:ext cx="20802600" cy="5702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35000" y="2616200"/>
            <a:ext cx="10896600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435600" y="10883900"/>
            <a:ext cx="12750800" cy="1333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카트 관리 화면  →  단순 조회가 아닌 삭제 / 수량 변경 / 전체 비우기 지원
- 상태 공유  →  동일한 cart 객체를 화면 전환 사이에서 계속 사용</a:t>
            </a:r>
            <a:r>
              <a:rPr lang="en-US" sz="2685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장바구니 관리 기능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014200" y="2984500"/>
            <a:ext cx="10579100" cy="698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98600" y="3365500"/>
            <a:ext cx="10020300" cy="6223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604500" y="8204200"/>
            <a:ext cx="12979400" cy="281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이중 검증  →  화면 입력 검증 + 서비스 비즈니스 검증 계층형 적용
- 포인트 정산  →  기존 포인트 - 사용 포인트 + 적립 포인트 DB 저장 및 반영
- 포인트 적립  →  주문 금액의 10% 적립 / 포인트 사용 시 실결제 금액의 10% 적립</a:t>
            </a:r>
            <a:r>
              <a:rPr lang="en-US" sz="2685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포인트 사용 주문 기능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6946900"/>
            <a:ext cx="9398000" cy="5397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98700" y="2654300"/>
            <a:ext cx="18910300" cy="3479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455400" y="8648700"/>
            <a:ext cx="11747500" cy="1333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주문 집계 우선  →  주문 집계 먼저 수행 후 메뉴 정보와 JOIN
- 첫 조회 지연 감소  →  서비스 초기화 시 인기 메뉴 백그라운드 캐싱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인기 메뉴 조회 기능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" y="6159500"/>
            <a:ext cx="9347200" cy="6324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68500" y="2209800"/>
            <a:ext cx="19964400" cy="3949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930900" y="10198100"/>
            <a:ext cx="12649200" cy="2070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ADMIN 단일 정책  →  ADMIN은 오직 한 명만 존재하도록 제한
- 관리자 전용 로그인  →  role = ADMIN 인 계정만 관리자 모드 진입 가능
- 권한 이전 정책  →  기존 ADMIN을 USER로 변경 후 새 ADMIN 권한 부여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관리자 로그인 및 정책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90900" y="3441700"/>
            <a:ext cx="8356600" cy="5473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27200" y="2730500"/>
            <a:ext cx="5651500" cy="6908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22400" y="11099800"/>
            <a:ext cx="21170900" cy="1333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카테고리 CRUD  →  카테고리 추가 / 삭제 지원
- 옵션 그룹 매핑  →  addOptionGroupToCategory() / removeOptionGroupFromCategory() 로 카테고리별 옵션 설정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카테고리 관리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4200" y="5080000"/>
            <a:ext cx="16738600" cy="372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462500" y="2260600"/>
            <a:ext cx="6083300" cy="90297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62100" y="10744200"/>
            <a:ext cx="18491200" cy="2070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메뉴 CRUD  →  registerMenu() / deleteMenu() 카테고리 기반 메뉴 등록 / 삭제
- 옵션 그룹 관리  →  addOptionGroup() / deleteOptionGroup() 옵션 그룹 추가 / 삭제
- 세부 옵션 관리  →  addMenuOption() / updateMenuOption() / deleteMenuOption() 옵션 수정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메뉴 및 세부 옵션 관리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6400" y="3441700"/>
            <a:ext cx="12687300" cy="6273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22300" y="1968500"/>
            <a:ext cx="5384800" cy="8420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770600" y="5994400"/>
            <a:ext cx="5080000" cy="3086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783300" y="1981200"/>
            <a:ext cx="5054600" cy="396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770600" y="9131300"/>
            <a:ext cx="50673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178300" y="10718800"/>
            <a:ext cx="15582900" cy="2070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회원 조회 / 삭제  →  getAllMembers() / deleteMember() 전체 회원 목록 조회 및 삭제
- 등급 변경  →  updateRole() 일반 고객 / 우수 고객 등급 변경
- 포인트 수정  →  updatePoint() 포인트 추가 / 차감 및 변경 사유 필수 기재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회원 관리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89000" y="2095500"/>
            <a:ext cx="9613900" cy="820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23600" y="4876800"/>
            <a:ext cx="121666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473700" y="11366500"/>
            <a:ext cx="13563600" cy="1333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주문 조회  →  getAllOrders() 전체 주문 목록 조회
- 소프트 삭제  →  cancelOrder() DB 영구 삭제가 아닌 [취소완료] 상태로 변경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주문 관리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62100" y="2146300"/>
            <a:ext cx="8864600" cy="8686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17300" y="5753100"/>
            <a:ext cx="11620500" cy="2222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55700" y="9512300"/>
            <a:ext cx="16103600" cy="281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기간별 통계  →  showDateStatistics() 일별 / 주차별 / 월별 / 연도별 매출 조회
- 특정 기간 조회  →  showDetailedPeriodStatistics() 설정한 기간 매출 통계 및 객단가 분석
- 피크타임 분석  →  showIntegratedPeakTimeStatistics() 시간대 / 요일별 매출 분석
- 우수 회원 분석  →  showTopMemberStatistics() 누적 결제액 기준 상위 회원 조회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181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매출 통계 및 그래프 조회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564100" y="8699500"/>
            <a:ext cx="5486400" cy="406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68300" y="3898900"/>
            <a:ext cx="5486400" cy="346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50100" y="4279900"/>
            <a:ext cx="5486400" cy="2717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999200" y="2578100"/>
            <a:ext cx="4051300" cy="5486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58800" y="2578100"/>
            <a:ext cx="6197600" cy="6121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559300" y="12166600"/>
            <a:ext cx="153924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CSV 내보내기  →  exportStatistics() 전체 매출 통계 데이터를 CSV 파일로 저장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431800"/>
            <a:ext cx="178308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총 매출 통계 .csv 저장하기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03500" y="5334000"/>
            <a:ext cx="11430000" cy="3695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445000" y="9194800"/>
            <a:ext cx="6997700" cy="2806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14600" y="1854200"/>
            <a:ext cx="18453100" cy="3390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681200" y="4432300"/>
            <a:ext cx="5918200" cy="7264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12153900"/>
            <a:ext cx="223774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12877800"/>
            <a:ext cx="22377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8300" y="7416800"/>
            <a:ext cx="13576300" cy="1765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8300" y="5168900"/>
            <a:ext cx="13576300" cy="176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8300" y="3073400"/>
            <a:ext cx="13576300" cy="176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9639300"/>
            <a:ext cx="13576300" cy="16002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879600" y="3517900"/>
            <a:ext cx="4140200" cy="7112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Black Han Sans Regular"/>
                <a:ea typeface="Black Han Sans Regular"/>
                <a:cs typeface="Black Han Sans Regular"/>
              </a:rPr>
              <a:t>Step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9600" y="5638800"/>
            <a:ext cx="4140200" cy="7112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Black Han Sans Regular"/>
                <a:ea typeface="Black Han Sans Regular"/>
                <a:cs typeface="Black Han Sans Regular"/>
              </a:rPr>
              <a:t>Step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79600" y="7848600"/>
            <a:ext cx="4140200" cy="7112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Black Han Sans Regular"/>
                <a:ea typeface="Black Han Sans Regular"/>
                <a:cs typeface="Black Han Sans Regular"/>
              </a:rPr>
              <a:t>Step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0700" y="10096500"/>
            <a:ext cx="4140200" cy="7112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Black Han Sans Regular"/>
                <a:ea typeface="Black Han Sans Regular"/>
                <a:cs typeface="Black Han Sans Regular"/>
              </a:rPr>
              <a:t>Step 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5900" y="3403600"/>
            <a:ext cx="8191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데이터 시드 스크립트 구축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75400" y="5499100"/>
            <a:ext cx="8851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실제 서비스 유사 환경 테스트
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5900" y="7734300"/>
            <a:ext cx="145796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문제점 파악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65900" y="9956800"/>
            <a:ext cx="145796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문제점 해결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65900" y="3949700"/>
            <a:ext cx="8178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마스터/메뉴/회원/주문 데이터 3년간 70만건 데이터 생성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75400" y="6032500"/>
            <a:ext cx="88519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일 주기성, 주 주기성, 계절성, 성장트렌드 등 반영한 데이터 구축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65900" y="8280400"/>
            <a:ext cx="145796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대량 데이터 삽입시 UI 문제, 성능 문제 사전확인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65900" y="10490200"/>
            <a:ext cx="145796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실제 환경에서도 안정적으로 사용 가능한 서비스 구축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6300" y="431800"/>
            <a:ext cx="178308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데이터 등록 스크립트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51300" y="3492500"/>
            <a:ext cx="4864100" cy="6997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778000" y="5080000"/>
            <a:ext cx="11379200" cy="4508500"/>
          </a:xfrm>
          <a:prstGeom prst="rect">
            <a:avLst/>
          </a:prstGeom>
        </p:spPr>
        <p:txBody>
          <a:bodyPr anchor="ctr" rtlCol="false" lIns="0" tIns="17695" rIns="0" bIns="17695"/>
          <a:lstStyle/>
          <a:p>
            <a:pPr algn="l" lvl="0">
              <a:lnSpc>
                <a:spcPct val="115287"/>
              </a:lnSpc>
            </a:pPr>
            <a:r>
              <a:rPr lang="en-US" sz="25333" b="false" i="false" u="none" strike="noStrike">
                <a:solidFill>
                  <a:srgbClr val="568A35"/>
                </a:solidFill>
                <a:latin typeface="Black Han Sans Regular"/>
                <a:ea typeface="Black Han Sans Regular"/>
                <a:cs typeface="Black Han Sans Regular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8000" y="9563100"/>
            <a:ext cx="16217900" cy="1993900"/>
          </a:xfrm>
          <a:prstGeom prst="rect">
            <a:avLst/>
          </a:prstGeom>
        </p:spPr>
        <p:txBody>
          <a:bodyPr anchor="ctr" rtlCol="false" lIns="0" tIns="7856" rIns="0" bIns="7856"/>
          <a:lstStyle/>
          <a:p>
            <a:pPr algn="l" lvl="0">
              <a:lnSpc>
                <a:spcPct val="115287"/>
              </a:lnSpc>
            </a:pPr>
            <a:r>
              <a:rPr lang="en-US" sz="11247" b="false" i="false" u="none" strike="noStrike" cap="all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Demonstration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1854200" y="12001500"/>
            <a:ext cx="80518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937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78308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시연 영상 - 신규 고객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2057400"/>
            <a:ext cx="4597400" cy="3060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711700" y="5321300"/>
            <a:ext cx="8763000" cy="763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상황
</a:t>
            </a:r>
            <a:r>
              <a:rPr lang="en-US" sz="2940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카페를 처음 방문한 신규 고객
</a:t>
            </a:r>
            <a:r>
              <a:rPr lang="en-US" sz="30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목표
</a:t>
            </a:r>
            <a:r>
              <a:rPr lang="en-US" sz="2940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메뉴를 직접 둘러보고 마음에 드는 음료 주문 후
회원가입으로 혜택 받기
</a:t>
            </a:r>
            <a:r>
              <a:rPr lang="en-US" sz="30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시나리오
</a:t>
            </a:r>
            <a:r>
              <a:rPr lang="en-US" sz="2940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회원가입 → 선호 카테고리 선택 (커피)
→ 로그인 → 추천 메뉴 확인
→ 메뉴 탐색 (인기/신상/커피)
→ 아메리카노 주문 → 수량 변경 → 주문 완료
→ 주문 내역 확인 → 포인트 내역 확인
→ 선호 카테고리 변경 (논커피) → 로그아웃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98400" y="9182100"/>
            <a:ext cx="80899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알고리즘이 선택한 바로 그 영상:
회원 관리 시연 편(광고 없음)</a:t>
            </a:r>
          </a:p>
        </p:txBody>
      </p:sp>
      <p:pic>
        <p:nvPicPr>
          <p:cNvPr name="Picture 9" id="9">
            <a:hlinkClick r:id="rId7" tooltip=""/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087600" y="4546600"/>
            <a:ext cx="32385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78308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시연 영상 - 단골 고객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13200" y="2882900"/>
            <a:ext cx="6400800" cy="4267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724400" y="7404100"/>
            <a:ext cx="9563100" cy="528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상황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자주 방문하는 단골 고객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목표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매번 같은 메뉴를 빠르게 재주문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시나리오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로그인 → 퀵오더 선택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→ 최근 주문 확인 → Y 선택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→ 카트 자동 연결 → 주문 완료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28500" y="9423400"/>
            <a:ext cx="115189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18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[최초공개] 퀵오더, 직접 써봤습니다... (</a:t>
            </a:r>
            <a:r>
              <a:rPr lang="en-US" sz="1451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영상 길이가 짧아서 </a:t>
            </a:r>
            <a:r>
              <a:rPr lang="en-US" sz="3318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충격 주의) </a:t>
            </a:r>
          </a:p>
        </p:txBody>
      </p:sp>
      <p:pic>
        <p:nvPicPr>
          <p:cNvPr name="Picture 9" id="9">
            <a:hlinkClick r:id="rId7" tooltip=""/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062200" y="4660900"/>
            <a:ext cx="32385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78308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시연 영상 - 관리자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749800" y="2400300"/>
            <a:ext cx="6324600" cy="4533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711700" y="6997700"/>
            <a:ext cx="8788400" cy="580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상황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1인 카페를 운영하는 관리자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목표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판매 중인 메뉴 관리, 매출 통계 분석,
회원 및 주문 관리, 고객의 주문 성향 파악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066" b="tru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시나리오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관리자 로그인 → 카테고리/메뉴 관리 선택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→ 회원 관리 → 회원 조회 및 주문 내역 취소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→ 매출 통계 및 그래프 조회 → 시간/메뉴 별 판매량 파악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43000" y="8890000"/>
            <a:ext cx="70866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1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인★ 릴스만 편집해본 그녀가</a:t>
            </a:r>
          </a:p>
          <a:p>
            <a:pPr algn="ctr" lvl="0">
              <a:lnSpc>
                <a:spcPct val="116199"/>
              </a:lnSpc>
            </a:pPr>
            <a:r>
              <a:rPr lang="en-US" sz="301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직접 관리자 기능 시연 영상에</a:t>
            </a:r>
          </a:p>
          <a:p>
            <a:pPr algn="ctr" lvl="0">
              <a:lnSpc>
                <a:spcPct val="116199"/>
              </a:lnSpc>
            </a:pPr>
            <a:r>
              <a:rPr lang="en-US" sz="301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더빙과 자막 편집을 하게 된 사연...[더보기]</a:t>
            </a:r>
          </a:p>
        </p:txBody>
      </p:sp>
      <p:pic>
        <p:nvPicPr>
          <p:cNvPr name="Picture 9" id="9">
            <a:hlinkClick r:id="rId7" tooltip=""/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659100" y="4267200"/>
            <a:ext cx="32385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778000" y="5080000"/>
            <a:ext cx="11379200" cy="4508500"/>
          </a:xfrm>
          <a:prstGeom prst="rect">
            <a:avLst/>
          </a:prstGeom>
        </p:spPr>
        <p:txBody>
          <a:bodyPr anchor="ctr" rtlCol="false" lIns="0" tIns="17695" rIns="0" bIns="17695"/>
          <a:lstStyle/>
          <a:p>
            <a:pPr algn="l" lvl="0">
              <a:lnSpc>
                <a:spcPct val="115287"/>
              </a:lnSpc>
            </a:pPr>
            <a:r>
              <a:rPr lang="en-US" sz="25333" b="false" i="false" u="none" strike="noStrike">
                <a:solidFill>
                  <a:srgbClr val="568A35"/>
                </a:solidFill>
                <a:latin typeface="Black Han Sans Regular"/>
                <a:ea typeface="Black Han Sans Regular"/>
                <a:cs typeface="Black Han Sans Regular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8000" y="8813800"/>
            <a:ext cx="16217900" cy="3517900"/>
          </a:xfrm>
          <a:prstGeom prst="rect">
            <a:avLst/>
          </a:prstGeom>
        </p:spPr>
        <p:txBody>
          <a:bodyPr anchor="ctr" rtlCol="false" lIns="0" tIns="242831" rIns="0" bIns="242831"/>
          <a:lstStyle/>
          <a:p>
            <a:pPr algn="l" lvl="0">
              <a:lnSpc>
                <a:spcPct val="87980"/>
              </a:lnSpc>
            </a:pPr>
            <a:r>
              <a:rPr lang="en-US" sz="11247" b="false" i="false" u="none" strike="noStrike" cap="all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tROUBLE sHOOTING &amp; Retrospective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1841500" y="12357100"/>
            <a:ext cx="80518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178308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트러블슈팅 1 - 퀵오더 데이터 구조 불일치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00200" y="2222500"/>
            <a:ext cx="1257300" cy="1104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200400" y="2108200"/>
            <a:ext cx="19659600" cy="10287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문제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퀵오더와 주문내역의 반환 타입 불일치
퀵오더 → List&lt;OrderItem&gt; 반환
주문내역 → List&lt;Order&gt; 반환
동일한 UI를 출력해야 하는데 데이터 구조가 달라 코드 중복 및 유지보수 문제 발생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원인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퀵오더를 별도 테이블 없이 구현하면서 OrderItem만 반환하도록 설계 → Order 단위로 묶어야 한다는 점을 초기에 고려하지 않음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해결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QuickOrderRepository 반환 타입 변경 : List&lt;OrderItem&gt; → Order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ORDERS → ORDER_ITEM → ORDER_ITEM_OPTION 3단계 조회로 통일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퀵오더 · 주문내역 동일한 데이터 구조 완성 → 카트 연결까지 자연스럽게 구현 가능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1600" y="8801100"/>
            <a:ext cx="1701800" cy="172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5880100"/>
            <a:ext cx="20193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201549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트러블슈팅 2 - 인기 메뉴 조회시 응답지연 발생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03400" y="2298700"/>
            <a:ext cx="1257300" cy="1104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365500" y="2108200"/>
            <a:ext cx="19761200" cy="1097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문제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시드 데이터 삽입 후 인기메뉴 조회 시 약 20초 응답 지연 발생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원인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N+1 쿼리 문제, 적절한 인덱스 부재, 너무 많은 데이터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해결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서브쿼리 이용, N+1 쿼리 최적화 → 쿼리 되는 개수가 5개 여서 성능 병목은 아닌것으로 파악되었음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인덱스 생성 &gt; 시간 1/2 수준으로 줄었지만, 여전히 10초의 시간은 치명적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1. 전체 기간이 아닌 최근 6개월 집계로 변경 → 집계, 정렬 비용이 줄어들어 1~2초 수준으로 줄어듦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2. 프로그램시 시작시 초기화 되는 메모리 캐시를 Thread로 구현 → 즉시 응답하는 수준으로 개선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키오스크 프로그램의 생명주기를 고려하여 단순한 캐시로 구현.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4800" y="7112000"/>
            <a:ext cx="1701800" cy="172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2400" y="4559300"/>
            <a:ext cx="20193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8161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431800"/>
            <a:ext cx="20154900" cy="1422400"/>
          </a:xfrm>
          <a:prstGeom prst="rect">
            <a:avLst/>
          </a:prstGeom>
        </p:spPr>
        <p:txBody>
          <a:bodyPr anchor="ctr" rtlCol="false" lIns="0" tIns="106680" rIns="0" bIns="106680"/>
          <a:lstStyle/>
          <a:p>
            <a:pPr algn="l" lvl="0">
              <a:lnSpc>
                <a:spcPct val="98770"/>
              </a:lnSpc>
            </a:pPr>
            <a:r>
              <a:rPr lang="en-US" sz="8000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트러블슈팅 3 - 메뉴 옵션 등록의 번거로움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06600" y="2616200"/>
            <a:ext cx="1257300" cy="1104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530600" y="2425700"/>
            <a:ext cx="19570700" cy="10287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문제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메뉴 정보를 등록할 때마다 세부 옵션을 수동으로 연결해야하는 번거로움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원인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데이터 간의 관계(특히 메뉴와 옵션)를 수동으로 관리하던 개별 관리 구조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해결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관계를 자동화하고 표준화한 카테고리 기반 메뉴 옵션 템플릿(Template) 방식 구현
    - 메뉴 등록 자동화: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메뉴 등록 시 해당 카테고리에 설정된 기본 옵션 그룹들이 `MENU_OPTION_GROUP`에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자동으로 복제되어 등록되도록 `AdminServiceImpl.registerMenu` 로직 개선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    - 데이터 관리 효율화: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- '커피' 카테고리 자체에 '온도'와 '사이즈' 옵션 그룹을 미리 지정해두고, 새로운 메뉴가 '커피' 카테고리로 등록되면 이 옵션들을 자동으로 상속받음 → 공통 옵션을 일괄 적용할 수 있는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기반 마련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79600" y="6375400"/>
            <a:ext cx="1701800" cy="172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9100" y="4191000"/>
            <a:ext cx="20193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58900" y="1892300"/>
            <a:ext cx="21704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06500" y="2120900"/>
            <a:ext cx="22250400" cy="1085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5250"/>
              </a:lnSpc>
            </a:pPr>
            <a:r>
              <a:rPr lang="en-US" sz="3200" b="tru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좋았던 점</a:t>
            </a:r>
          </a:p>
          <a:p>
            <a:pPr algn="l" lvl="0">
              <a:lnSpc>
                <a:spcPct val="145250"/>
              </a:lnSpc>
            </a:pPr>
            <a:r>
              <a:rPr lang="en-US" sz="30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-  프로젝트를 3명이 역할을 나눠 Git으로 협업하면서 충돌을 직접 해결하는 경험을 할 수 있어서 좋았습니다. MVC 패턴과 인터페이스 분리 구조가 실제로 왜 필요한지 몸으로 체감할 수 있었고, 설계한 기능이 동작하는 순간의 성취감도 컸습니다. </a:t>
            </a:r>
          </a:p>
          <a:p>
            <a:pPr algn="l" lvl="0">
              <a:lnSpc>
                <a:spcPct val="145250"/>
              </a:lnSpc>
            </a:pPr>
            <a:r>
              <a:rPr lang="en-US" sz="30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-  실제 시나리오와 유사한 70만개의 주문 데이터를 삽입하여 단순 토이프로젝트 수준이 아니라 실제 환경과 비슷한 환경에서 테스트 해볼 수 있어서 좋았습니다.</a:t>
            </a:r>
          </a:p>
          <a:p>
            <a:pPr algn="l" lvl="0">
              <a:lnSpc>
                <a:spcPct val="14525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45250"/>
              </a:lnSpc>
            </a:pPr>
            <a:r>
              <a:rPr lang="en-US" sz="3200" b="tru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아쉬웠던 점</a:t>
            </a:r>
          </a:p>
          <a:p>
            <a:pPr algn="l" lvl="0">
              <a:lnSpc>
                <a:spcPct val="145250"/>
              </a:lnSpc>
            </a:pPr>
            <a:r>
              <a:rPr lang="en-US" sz="30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- 아쉬운 점은 데이터 구조를 초기에 잘못 설계해 프로젝트 도중 몇 번 리팩토링했던 점입니다. </a:t>
            </a:r>
          </a:p>
          <a:p>
            <a:pPr algn="l" lvl="0">
              <a:lnSpc>
                <a:spcPct val="145250"/>
              </a:lnSpc>
            </a:pPr>
            <a:r>
              <a:rPr lang="en-US" sz="3066" b="false" i="false" u="none" strike="noStrike">
                <a:solidFill>
                  <a:srgbClr val="4D4D4D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45250"/>
              </a:lnSpc>
            </a:pPr>
            <a:r>
              <a:rPr lang="en-US" sz="3200" b="tru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보완할 점</a:t>
            </a:r>
          </a:p>
          <a:p>
            <a:pPr algn="l" lvl="0">
              <a:lnSpc>
                <a:spcPct val="145250"/>
              </a:lnSpc>
            </a:pPr>
            <a:r>
              <a:rPr lang="en-US" sz="30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- 메뉴 조회 같은 간단한 쿼리에 매번 DB 연결을 새로 시도하는데, HikariCP 커넥션 풀을 적용해 DB 성능을 개선하거나 메모리 캐시를 사용 전체에 적용했으면 네트워크 비용을 아낄 수 있었을 것 같습니다.</a:t>
            </a:r>
          </a:p>
          <a:p>
            <a:pPr algn="l" lvl="0">
              <a:lnSpc>
                <a:spcPct val="145250"/>
              </a:lnSpc>
            </a:pPr>
            <a:r>
              <a:rPr lang="en-US" sz="30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- JUnit으로 단위 테스트를 작성해 코드의 신뢰성을 높혔을 것 같습니다.</a:t>
            </a:r>
          </a:p>
          <a:p>
            <a:pPr algn="l" lvl="0">
              <a:lnSpc>
                <a:spcPct val="145250"/>
              </a:lnSpc>
            </a:pPr>
            <a:r>
              <a:rPr lang="en-US" sz="30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- 스키마를 SQL로 직접 관리하여  변경이 필요해질 때마다 스키마를 추적하기 번거로웠는데, Flyway 등의 마이그레이션 도구를 사용하거나 문서화 규칙을 명확히 적용했으면 좋았을 것 같습니다.</a:t>
            </a:r>
          </a:p>
          <a:p>
            <a:pPr algn="l" lvl="0">
              <a:lnSpc>
                <a:spcPct val="145250"/>
              </a:lnSpc>
            </a:pPr>
            <a:r>
              <a:rPr lang="en-US" sz="3066" b="false" i="false" u="none" strike="noStrike">
                <a:solidFill>
                  <a:srgbClr val="4D4D4D"/>
                </a:solidFill>
                <a:latin typeface="NanumSquare Regular"/>
                <a:ea typeface="NanumSquare Regular"/>
                <a:cs typeface="NanumSquare Regular"/>
              </a:rPr>
              <a:t>- 향후에는 키오스크 하나에서 돌아가는 프로그램이 아니라 전체 프랜차이즈와 연동되는 프로그램으로 확장 할 수 있으면 좋을 것 같습니다.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5700" y="228600"/>
            <a:ext cx="17907000" cy="1879600"/>
          </a:xfrm>
          <a:prstGeom prst="rect">
            <a:avLst/>
          </a:prstGeom>
        </p:spPr>
        <p:txBody>
          <a:bodyPr anchor="ctr" rtlCol="false" lIns="0" tIns="141298" rIns="0" bIns="141298"/>
          <a:lstStyle/>
          <a:p>
            <a:pPr algn="l" lvl="0">
              <a:lnSpc>
                <a:spcPct val="98770"/>
              </a:lnSpc>
            </a:pPr>
            <a:r>
              <a:rPr lang="en-US" sz="10596" b="false" i="false" u="none" strike="noStrike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프로젝트 회고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68A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161500" y="0"/>
            <a:ext cx="889000" cy="129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112000" y="5613400"/>
            <a:ext cx="12065000" cy="2489200"/>
          </a:xfrm>
          <a:prstGeom prst="rect">
            <a:avLst/>
          </a:prstGeom>
        </p:spPr>
        <p:txBody>
          <a:bodyPr anchor="ctr" rtlCol="false" lIns="0" tIns="9760" rIns="0" bIns="9760"/>
          <a:lstStyle/>
          <a:p>
            <a:pPr algn="l" lvl="0">
              <a:lnSpc>
                <a:spcPct val="115287"/>
              </a:lnSpc>
            </a:pPr>
            <a:r>
              <a:rPr lang="en-US" sz="13972" b="false" i="false" u="none" strike="noStrike" cap="all">
                <a:solidFill>
                  <a:srgbClr val="4D4D4D"/>
                </a:solidFill>
                <a:latin typeface="Black Han Sans Regular"/>
                <a:ea typeface="Black Han Sans Regular"/>
                <a:cs typeface="Black Han Sans Regula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